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Codec Pro" panose="020B0604020202020204" charset="0"/>
      <p:regular r:id="rId12"/>
    </p:embeddedFont>
    <p:embeddedFont>
      <p:font typeface="Montaser Arabic" panose="020B0604020202020204" charset="-78"/>
      <p:regular r:id="rId13"/>
    </p:embeddedFont>
    <p:embeddedFont>
      <p:font typeface="Montaser Arabic Bold" panose="020B0604020202020204" charset="-78"/>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221835">
            <a:off x="11844884" y="1068902"/>
            <a:ext cx="3421620" cy="3844851"/>
          </a:xfrm>
          <a:custGeom>
            <a:avLst/>
            <a:gdLst/>
            <a:ahLst/>
            <a:cxnLst/>
            <a:rect l="l" t="t" r="r" b="b"/>
            <a:pathLst>
              <a:path w="3421620" h="3844851">
                <a:moveTo>
                  <a:pt x="0" y="0"/>
                </a:moveTo>
                <a:lnTo>
                  <a:pt x="3421619" y="0"/>
                </a:lnTo>
                <a:lnTo>
                  <a:pt x="3421619" y="3844851"/>
                </a:lnTo>
                <a:lnTo>
                  <a:pt x="0" y="3844851"/>
                </a:lnTo>
                <a:lnTo>
                  <a:pt x="0" y="0"/>
                </a:lnTo>
                <a:close/>
              </a:path>
            </a:pathLst>
          </a:custGeom>
          <a:blipFill>
            <a:blip r:embed="rId2"/>
            <a:stretch>
              <a:fillRect/>
            </a:stretch>
          </a:blipFill>
        </p:spPr>
        <p:txBody>
          <a:bodyPr/>
          <a:lstStyle/>
          <a:p>
            <a:endParaRPr lang="en-IN"/>
          </a:p>
        </p:txBody>
      </p:sp>
      <p:sp>
        <p:nvSpPr>
          <p:cNvPr id="3" name="TextBox 3"/>
          <p:cNvSpPr txBox="1"/>
          <p:nvPr/>
        </p:nvSpPr>
        <p:spPr>
          <a:xfrm>
            <a:off x="2573054" y="4060467"/>
            <a:ext cx="7093017" cy="1889941"/>
          </a:xfrm>
          <a:prstGeom prst="rect">
            <a:avLst/>
          </a:prstGeom>
        </p:spPr>
        <p:txBody>
          <a:bodyPr lIns="0" tIns="0" rIns="0" bIns="0" rtlCol="0" anchor="t">
            <a:spAutoFit/>
          </a:bodyPr>
          <a:lstStyle/>
          <a:p>
            <a:pPr lvl="0">
              <a:lnSpc>
                <a:spcPts val="4854"/>
              </a:lnSpc>
            </a:pPr>
            <a:r>
              <a:rPr lang="en-US" sz="5109" b="1" dirty="0">
                <a:solidFill>
                  <a:srgbClr val="000000"/>
                </a:solidFill>
                <a:latin typeface="Montaser Arabic Bold"/>
                <a:ea typeface="Montaser Arabic Bold"/>
                <a:cs typeface="Montaser Arabic Bold"/>
                <a:sym typeface="Montaser Arabic Bold"/>
              </a:rPr>
              <a:t>Bellabeat Insights</a:t>
            </a:r>
          </a:p>
          <a:p>
            <a:pPr lvl="0">
              <a:lnSpc>
                <a:spcPts val="4854"/>
              </a:lnSpc>
            </a:pPr>
            <a:r>
              <a:rPr lang="en-US" sz="2000" dirty="0">
                <a:solidFill>
                  <a:srgbClr val="000000"/>
                </a:solidFill>
                <a:latin typeface="Montaser Arabic Bold"/>
                <a:ea typeface="Montaser Arabic Bold"/>
                <a:cs typeface="Montaser Arabic Bold"/>
                <a:sym typeface="Montaser Arabic Bold"/>
              </a:rPr>
              <a:t>Fitbit User Activity &amp; Sleep Analysis</a:t>
            </a:r>
          </a:p>
          <a:p>
            <a:pPr lvl="0">
              <a:lnSpc>
                <a:spcPts val="4854"/>
              </a:lnSpc>
            </a:pPr>
            <a:endParaRPr lang="en-US" sz="5109" b="1" dirty="0">
              <a:solidFill>
                <a:srgbClr val="000000"/>
              </a:solidFill>
              <a:latin typeface="Montaser Arabic Bold"/>
              <a:ea typeface="Montaser Arabic Bold"/>
              <a:cs typeface="Montaser Arabic Bold"/>
              <a:sym typeface="Montaser Arabic Bold"/>
            </a:endParaRPr>
          </a:p>
        </p:txBody>
      </p:sp>
      <p:grpSp>
        <p:nvGrpSpPr>
          <p:cNvPr id="4" name="Group 4"/>
          <p:cNvGrpSpPr/>
          <p:nvPr/>
        </p:nvGrpSpPr>
        <p:grpSpPr>
          <a:xfrm>
            <a:off x="9666070" y="5349229"/>
            <a:ext cx="6839376" cy="1108027"/>
            <a:chOff x="0" y="0"/>
            <a:chExt cx="1801317" cy="291826"/>
          </a:xfrm>
        </p:grpSpPr>
        <p:sp>
          <p:nvSpPr>
            <p:cNvPr id="5" name="Freeform 5"/>
            <p:cNvSpPr/>
            <p:nvPr/>
          </p:nvSpPr>
          <p:spPr>
            <a:xfrm>
              <a:off x="0" y="0"/>
              <a:ext cx="1801317" cy="291826"/>
            </a:xfrm>
            <a:custGeom>
              <a:avLst/>
              <a:gdLst/>
              <a:ahLst/>
              <a:cxnLst/>
              <a:rect l="l" t="t" r="r" b="b"/>
              <a:pathLst>
                <a:path w="1801317" h="291826">
                  <a:moveTo>
                    <a:pt x="0" y="0"/>
                  </a:moveTo>
                  <a:lnTo>
                    <a:pt x="1801317" y="0"/>
                  </a:lnTo>
                  <a:lnTo>
                    <a:pt x="1801317" y="291826"/>
                  </a:lnTo>
                  <a:lnTo>
                    <a:pt x="0" y="291826"/>
                  </a:lnTo>
                  <a:close/>
                </a:path>
              </a:pathLst>
            </a:custGeom>
            <a:solidFill>
              <a:srgbClr val="7ED957"/>
            </a:solidFill>
          </p:spPr>
          <p:txBody>
            <a:bodyPr/>
            <a:lstStyle/>
            <a:p>
              <a:endParaRPr lang="en-IN"/>
            </a:p>
          </p:txBody>
        </p:sp>
        <p:sp>
          <p:nvSpPr>
            <p:cNvPr id="6" name="TextBox 6"/>
            <p:cNvSpPr txBox="1"/>
            <p:nvPr/>
          </p:nvSpPr>
          <p:spPr>
            <a:xfrm>
              <a:off x="0" y="-38100"/>
              <a:ext cx="1801317" cy="32992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7" name="Freeform 7"/>
          <p:cNvSpPr/>
          <p:nvPr/>
        </p:nvSpPr>
        <p:spPr>
          <a:xfrm>
            <a:off x="3430961" y="2308103"/>
            <a:ext cx="934381" cy="1224582"/>
          </a:xfrm>
          <a:custGeom>
            <a:avLst/>
            <a:gdLst/>
            <a:ahLst/>
            <a:cxnLst/>
            <a:rect l="l" t="t" r="r" b="b"/>
            <a:pathLst>
              <a:path w="934381" h="1224582">
                <a:moveTo>
                  <a:pt x="0" y="0"/>
                </a:moveTo>
                <a:lnTo>
                  <a:pt x="934381" y="0"/>
                </a:lnTo>
                <a:lnTo>
                  <a:pt x="934381" y="1224582"/>
                </a:lnTo>
                <a:lnTo>
                  <a:pt x="0" y="1224582"/>
                </a:lnTo>
                <a:lnTo>
                  <a:pt x="0" y="0"/>
                </a:lnTo>
                <a:close/>
              </a:path>
            </a:pathLst>
          </a:custGeom>
          <a:blipFill>
            <a:blip r:embed="rId3"/>
            <a:stretch>
              <a:fillRect/>
            </a:stretch>
          </a:blipFill>
        </p:spPr>
        <p:txBody>
          <a:bodyPr/>
          <a:lstStyle/>
          <a:p>
            <a:endParaRPr lang="en-IN"/>
          </a:p>
        </p:txBody>
      </p:sp>
      <p:grpSp>
        <p:nvGrpSpPr>
          <p:cNvPr id="9" name="Group 9"/>
          <p:cNvGrpSpPr/>
          <p:nvPr/>
        </p:nvGrpSpPr>
        <p:grpSpPr>
          <a:xfrm>
            <a:off x="1782554" y="8306083"/>
            <a:ext cx="7361446" cy="47625"/>
            <a:chOff x="0" y="0"/>
            <a:chExt cx="1938817" cy="12543"/>
          </a:xfrm>
        </p:grpSpPr>
        <p:sp>
          <p:nvSpPr>
            <p:cNvPr id="10" name="Freeform 10"/>
            <p:cNvSpPr/>
            <p:nvPr/>
          </p:nvSpPr>
          <p:spPr>
            <a:xfrm>
              <a:off x="0" y="0"/>
              <a:ext cx="1938817" cy="12543"/>
            </a:xfrm>
            <a:custGeom>
              <a:avLst/>
              <a:gdLst/>
              <a:ahLst/>
              <a:cxnLst/>
              <a:rect l="l" t="t" r="r" b="b"/>
              <a:pathLst>
                <a:path w="1938817" h="12543">
                  <a:moveTo>
                    <a:pt x="0" y="0"/>
                  </a:moveTo>
                  <a:lnTo>
                    <a:pt x="1938817" y="0"/>
                  </a:lnTo>
                  <a:lnTo>
                    <a:pt x="1938817" y="12543"/>
                  </a:lnTo>
                  <a:lnTo>
                    <a:pt x="0" y="12543"/>
                  </a:lnTo>
                  <a:close/>
                </a:path>
              </a:pathLst>
            </a:custGeom>
            <a:solidFill>
              <a:srgbClr val="014960"/>
            </a:solidFill>
          </p:spPr>
          <p:txBody>
            <a:bodyPr/>
            <a:lstStyle/>
            <a:p>
              <a:endParaRPr lang="en-IN"/>
            </a:p>
          </p:txBody>
        </p:sp>
        <p:sp>
          <p:nvSpPr>
            <p:cNvPr id="11" name="TextBox 11"/>
            <p:cNvSpPr txBox="1"/>
            <p:nvPr/>
          </p:nvSpPr>
          <p:spPr>
            <a:xfrm>
              <a:off x="0" y="-38100"/>
              <a:ext cx="1938817" cy="50643"/>
            </a:xfrm>
            <a:prstGeom prst="rect">
              <a:avLst/>
            </a:prstGeom>
          </p:spPr>
          <p:txBody>
            <a:bodyPr lIns="50800" tIns="50800" rIns="50800" bIns="50800" rtlCol="0" anchor="ctr"/>
            <a:lstStyle/>
            <a:p>
              <a:pPr marL="0" lvl="0" indent="0" algn="ctr">
                <a:lnSpc>
                  <a:spcPts val="2659"/>
                </a:lnSpc>
              </a:pPr>
              <a:endParaRPr/>
            </a:p>
          </p:txBody>
        </p:sp>
      </p:grpSp>
      <p:sp>
        <p:nvSpPr>
          <p:cNvPr id="12" name="TextBox 12"/>
          <p:cNvSpPr txBox="1"/>
          <p:nvPr/>
        </p:nvSpPr>
        <p:spPr>
          <a:xfrm>
            <a:off x="9817656" y="5617779"/>
            <a:ext cx="6991495" cy="589179"/>
          </a:xfrm>
          <a:prstGeom prst="rect">
            <a:avLst/>
          </a:prstGeom>
        </p:spPr>
        <p:txBody>
          <a:bodyPr wrap="square" lIns="0" tIns="0" rIns="0" bIns="0" rtlCol="0" anchor="t">
            <a:spAutoFit/>
          </a:bodyPr>
          <a:lstStyle/>
          <a:p>
            <a:pPr marL="0" lvl="0" indent="0" algn="l">
              <a:lnSpc>
                <a:spcPts val="2232"/>
              </a:lnSpc>
            </a:pPr>
            <a:r>
              <a:rPr lang="en-US" sz="2349" dirty="0">
                <a:solidFill>
                  <a:srgbClr val="000000"/>
                </a:solidFill>
                <a:latin typeface="Montaser Arabic"/>
                <a:ea typeface="Montaser Arabic"/>
                <a:cs typeface="Montaser Arabic"/>
                <a:sym typeface="Montaser Arabic"/>
              </a:rPr>
              <a:t>Identifying user behavior trends to support Bellabeat's marketing and wellness strategy.</a:t>
            </a:r>
          </a:p>
        </p:txBody>
      </p:sp>
      <p:sp>
        <p:nvSpPr>
          <p:cNvPr id="13" name="TextBox 13"/>
          <p:cNvSpPr txBox="1"/>
          <p:nvPr/>
        </p:nvSpPr>
        <p:spPr>
          <a:xfrm>
            <a:off x="1782554" y="7588355"/>
            <a:ext cx="8278359" cy="765353"/>
          </a:xfrm>
          <a:prstGeom prst="rect">
            <a:avLst/>
          </a:prstGeom>
        </p:spPr>
        <p:txBody>
          <a:bodyPr lIns="0" tIns="0" rIns="0" bIns="0" rtlCol="0" anchor="t">
            <a:spAutoFit/>
          </a:bodyPr>
          <a:lstStyle/>
          <a:p>
            <a:pPr algn="l">
              <a:lnSpc>
                <a:spcPts val="2716"/>
              </a:lnSpc>
            </a:pPr>
            <a:r>
              <a:rPr lang="en-US" sz="2859">
                <a:solidFill>
                  <a:srgbClr val="000000"/>
                </a:solidFill>
                <a:latin typeface="Codec Pro"/>
                <a:ea typeface="Codec Pro"/>
                <a:cs typeface="Codec Pro"/>
                <a:sym typeface="Codec Pro"/>
              </a:rPr>
              <a:t>Presented by - Kushal Verma </a:t>
            </a:r>
          </a:p>
          <a:p>
            <a:pPr marL="0" lvl="0" indent="0" algn="l">
              <a:lnSpc>
                <a:spcPts val="2716"/>
              </a:lnSpc>
            </a:pPr>
            <a:r>
              <a:rPr lang="en-US" sz="2859">
                <a:solidFill>
                  <a:srgbClr val="000000"/>
                </a:solidFill>
                <a:latin typeface="Codec Pro"/>
                <a:ea typeface="Codec Pro"/>
                <a:cs typeface="Codec Pro"/>
                <a:sym typeface="Codec Pro"/>
              </a:rPr>
              <a:t>Last update : 10 June 2016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36093" y="3915514"/>
            <a:ext cx="16423207" cy="5342786"/>
          </a:xfrm>
          <a:custGeom>
            <a:avLst/>
            <a:gdLst/>
            <a:ahLst/>
            <a:cxnLst/>
            <a:rect l="l" t="t" r="r" b="b"/>
            <a:pathLst>
              <a:path w="16423207" h="5342786">
                <a:moveTo>
                  <a:pt x="0" y="0"/>
                </a:moveTo>
                <a:lnTo>
                  <a:pt x="16423207" y="0"/>
                </a:lnTo>
                <a:lnTo>
                  <a:pt x="16423207" y="5342786"/>
                </a:lnTo>
                <a:lnTo>
                  <a:pt x="0" y="534278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dirty="0"/>
          </a:p>
        </p:txBody>
      </p:sp>
      <p:sp>
        <p:nvSpPr>
          <p:cNvPr id="3" name="Freeform 3"/>
          <p:cNvSpPr/>
          <p:nvPr/>
        </p:nvSpPr>
        <p:spPr>
          <a:xfrm rot="1504118">
            <a:off x="1227377" y="1222765"/>
            <a:ext cx="3181597" cy="2029868"/>
          </a:xfrm>
          <a:custGeom>
            <a:avLst/>
            <a:gdLst/>
            <a:ahLst/>
            <a:cxnLst/>
            <a:rect l="l" t="t" r="r" b="b"/>
            <a:pathLst>
              <a:path w="3181597" h="2029868">
                <a:moveTo>
                  <a:pt x="0" y="0"/>
                </a:moveTo>
                <a:lnTo>
                  <a:pt x="3181597" y="0"/>
                </a:lnTo>
                <a:lnTo>
                  <a:pt x="3181597" y="2029868"/>
                </a:lnTo>
                <a:lnTo>
                  <a:pt x="0" y="2029868"/>
                </a:lnTo>
                <a:lnTo>
                  <a:pt x="0" y="0"/>
                </a:lnTo>
                <a:close/>
              </a:path>
            </a:pathLst>
          </a:custGeom>
          <a:blipFill>
            <a:blip r:embed="rId3"/>
            <a:stretch>
              <a:fillRect/>
            </a:stretch>
          </a:blipFill>
        </p:spPr>
        <p:txBody>
          <a:bodyPr/>
          <a:lstStyle/>
          <a:p>
            <a:endParaRPr lang="en-IN"/>
          </a:p>
        </p:txBody>
      </p:sp>
      <p:sp>
        <p:nvSpPr>
          <p:cNvPr id="4" name="Freeform 4"/>
          <p:cNvSpPr/>
          <p:nvPr/>
        </p:nvSpPr>
        <p:spPr>
          <a:xfrm>
            <a:off x="4273691" y="8186440"/>
            <a:ext cx="791777" cy="613993"/>
          </a:xfrm>
          <a:custGeom>
            <a:avLst/>
            <a:gdLst/>
            <a:ahLst/>
            <a:cxnLst/>
            <a:rect l="l" t="t" r="r" b="b"/>
            <a:pathLst>
              <a:path w="791777" h="613993">
                <a:moveTo>
                  <a:pt x="0" y="0"/>
                </a:moveTo>
                <a:lnTo>
                  <a:pt x="791777" y="0"/>
                </a:lnTo>
                <a:lnTo>
                  <a:pt x="791777" y="613994"/>
                </a:lnTo>
                <a:lnTo>
                  <a:pt x="0" y="61399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TextBox 5"/>
          <p:cNvSpPr txBox="1"/>
          <p:nvPr/>
        </p:nvSpPr>
        <p:spPr>
          <a:xfrm>
            <a:off x="1278902" y="5434412"/>
            <a:ext cx="2790689" cy="1346522"/>
          </a:xfrm>
          <a:prstGeom prst="rect">
            <a:avLst/>
          </a:prstGeom>
        </p:spPr>
        <p:txBody>
          <a:bodyPr lIns="0" tIns="0" rIns="0" bIns="0" rtlCol="0" anchor="t">
            <a:spAutoFit/>
          </a:bodyPr>
          <a:lstStyle/>
          <a:p>
            <a:pPr marL="0" lvl="0" indent="0" algn="ctr">
              <a:lnSpc>
                <a:spcPts val="3475"/>
              </a:lnSpc>
            </a:pPr>
            <a:r>
              <a:rPr lang="en-US" sz="3278" dirty="0">
                <a:solidFill>
                  <a:srgbClr val="000000"/>
                </a:solidFill>
                <a:latin typeface="Codec Pro"/>
                <a:ea typeface="Codec Pro"/>
                <a:cs typeface="Codec Pro"/>
                <a:sym typeface="Codec Pro"/>
              </a:rPr>
              <a:t>Understand activity habits</a:t>
            </a:r>
          </a:p>
        </p:txBody>
      </p:sp>
      <p:sp>
        <p:nvSpPr>
          <p:cNvPr id="6" name="TextBox 6"/>
          <p:cNvSpPr txBox="1"/>
          <p:nvPr/>
        </p:nvSpPr>
        <p:spPr>
          <a:xfrm>
            <a:off x="6460343" y="2103188"/>
            <a:ext cx="9839754" cy="938362"/>
          </a:xfrm>
          <a:prstGeom prst="rect">
            <a:avLst/>
          </a:prstGeom>
        </p:spPr>
        <p:txBody>
          <a:bodyPr lIns="0" tIns="0" rIns="0" bIns="0" rtlCol="0" anchor="t">
            <a:spAutoFit/>
          </a:bodyPr>
          <a:lstStyle/>
          <a:p>
            <a:pPr marL="0" lvl="0" indent="0" algn="l">
              <a:lnSpc>
                <a:spcPts val="6937"/>
              </a:lnSpc>
            </a:pPr>
            <a:r>
              <a:rPr lang="en-US" sz="7302" b="1">
                <a:solidFill>
                  <a:srgbClr val="000000"/>
                </a:solidFill>
                <a:latin typeface="Montaser Arabic Bold"/>
                <a:ea typeface="Montaser Arabic Bold"/>
                <a:cs typeface="Montaser Arabic Bold"/>
                <a:sym typeface="Montaser Arabic Bold"/>
              </a:rPr>
              <a:t>Objectives</a:t>
            </a:r>
          </a:p>
        </p:txBody>
      </p:sp>
      <p:sp>
        <p:nvSpPr>
          <p:cNvPr id="7" name="TextBox 7"/>
          <p:cNvSpPr txBox="1"/>
          <p:nvPr/>
        </p:nvSpPr>
        <p:spPr>
          <a:xfrm>
            <a:off x="5245229" y="5434412"/>
            <a:ext cx="3333894" cy="1000274"/>
          </a:xfrm>
          <a:prstGeom prst="rect">
            <a:avLst/>
          </a:prstGeom>
        </p:spPr>
        <p:txBody>
          <a:bodyPr lIns="0" tIns="0" rIns="0" bIns="0" rtlCol="0" anchor="t">
            <a:spAutoFit/>
          </a:bodyPr>
          <a:lstStyle/>
          <a:p>
            <a:pPr marL="0" lvl="0" indent="0" algn="ctr">
              <a:lnSpc>
                <a:spcPts val="3946"/>
              </a:lnSpc>
            </a:pPr>
            <a:r>
              <a:rPr lang="en-US" sz="3723" dirty="0">
                <a:solidFill>
                  <a:srgbClr val="000000"/>
                </a:solidFill>
                <a:latin typeface="Codec Pro"/>
                <a:ea typeface="Codec Pro"/>
                <a:cs typeface="Codec Pro"/>
                <a:sym typeface="Codec Pro"/>
              </a:rPr>
              <a:t>Understand Sleep habits</a:t>
            </a:r>
          </a:p>
        </p:txBody>
      </p:sp>
      <p:sp>
        <p:nvSpPr>
          <p:cNvPr id="8" name="TextBox 8"/>
          <p:cNvSpPr txBox="1"/>
          <p:nvPr/>
        </p:nvSpPr>
        <p:spPr>
          <a:xfrm>
            <a:off x="9539889" y="5282459"/>
            <a:ext cx="3190265" cy="1378508"/>
          </a:xfrm>
          <a:prstGeom prst="rect">
            <a:avLst/>
          </a:prstGeom>
        </p:spPr>
        <p:txBody>
          <a:bodyPr lIns="0" tIns="0" rIns="0" bIns="0" rtlCol="0" anchor="t">
            <a:spAutoFit/>
          </a:bodyPr>
          <a:lstStyle/>
          <a:p>
            <a:pPr marL="0" lvl="0" indent="0" algn="ctr">
              <a:lnSpc>
                <a:spcPts val="3458"/>
              </a:lnSpc>
            </a:pPr>
            <a:r>
              <a:rPr lang="en-US" sz="3262" dirty="0">
                <a:solidFill>
                  <a:srgbClr val="000000"/>
                </a:solidFill>
                <a:latin typeface="Codec Pro"/>
                <a:ea typeface="Codec Pro"/>
                <a:cs typeface="Codec Pro"/>
                <a:sym typeface="Codec Pro"/>
              </a:rPr>
              <a:t>Identifying behavior patterns</a:t>
            </a:r>
          </a:p>
        </p:txBody>
      </p:sp>
      <p:sp>
        <p:nvSpPr>
          <p:cNvPr id="9" name="TextBox 9"/>
          <p:cNvSpPr txBox="1"/>
          <p:nvPr/>
        </p:nvSpPr>
        <p:spPr>
          <a:xfrm>
            <a:off x="13692178" y="5291984"/>
            <a:ext cx="3166663" cy="1086541"/>
          </a:xfrm>
          <a:prstGeom prst="rect">
            <a:avLst/>
          </a:prstGeom>
        </p:spPr>
        <p:txBody>
          <a:bodyPr lIns="0" tIns="0" rIns="0" bIns="0" rtlCol="0" anchor="t">
            <a:spAutoFit/>
          </a:bodyPr>
          <a:lstStyle/>
          <a:p>
            <a:pPr marL="0" lvl="0" indent="0" algn="ctr">
              <a:lnSpc>
                <a:spcPts val="2787"/>
              </a:lnSpc>
            </a:pPr>
            <a:r>
              <a:rPr lang="en-US" sz="2629" dirty="0">
                <a:solidFill>
                  <a:srgbClr val="000000"/>
                </a:solidFill>
                <a:latin typeface="Codec Pro"/>
                <a:ea typeface="Codec Pro"/>
                <a:cs typeface="Codec Pro"/>
                <a:sym typeface="Codec Pro"/>
              </a:rPr>
              <a:t>Generate actionable recommendations</a:t>
            </a:r>
          </a:p>
        </p:txBody>
      </p:sp>
      <p:sp>
        <p:nvSpPr>
          <p:cNvPr id="10" name="Freeform 10"/>
          <p:cNvSpPr/>
          <p:nvPr/>
        </p:nvSpPr>
        <p:spPr>
          <a:xfrm>
            <a:off x="8748111" y="8186440"/>
            <a:ext cx="791777" cy="613993"/>
          </a:xfrm>
          <a:custGeom>
            <a:avLst/>
            <a:gdLst/>
            <a:ahLst/>
            <a:cxnLst/>
            <a:rect l="l" t="t" r="r" b="b"/>
            <a:pathLst>
              <a:path w="791777" h="613993">
                <a:moveTo>
                  <a:pt x="0" y="0"/>
                </a:moveTo>
                <a:lnTo>
                  <a:pt x="791778" y="0"/>
                </a:lnTo>
                <a:lnTo>
                  <a:pt x="791778" y="613994"/>
                </a:lnTo>
                <a:lnTo>
                  <a:pt x="0" y="61399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1" name="Freeform 11"/>
          <p:cNvSpPr/>
          <p:nvPr/>
        </p:nvSpPr>
        <p:spPr>
          <a:xfrm>
            <a:off x="13222532" y="8186440"/>
            <a:ext cx="791777" cy="613993"/>
          </a:xfrm>
          <a:custGeom>
            <a:avLst/>
            <a:gdLst/>
            <a:ahLst/>
            <a:cxnLst/>
            <a:rect l="l" t="t" r="r" b="b"/>
            <a:pathLst>
              <a:path w="791777" h="613993">
                <a:moveTo>
                  <a:pt x="0" y="0"/>
                </a:moveTo>
                <a:lnTo>
                  <a:pt x="791777" y="0"/>
                </a:lnTo>
                <a:lnTo>
                  <a:pt x="791777" y="613994"/>
                </a:lnTo>
                <a:lnTo>
                  <a:pt x="0" y="61399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669579" y="1028700"/>
            <a:ext cx="12589721" cy="2311931"/>
          </a:xfrm>
          <a:custGeom>
            <a:avLst/>
            <a:gdLst/>
            <a:ahLst/>
            <a:cxnLst/>
            <a:rect l="l" t="t" r="r" b="b"/>
            <a:pathLst>
              <a:path w="12589721" h="2311931">
                <a:moveTo>
                  <a:pt x="0" y="0"/>
                </a:moveTo>
                <a:lnTo>
                  <a:pt x="12589721" y="0"/>
                </a:lnTo>
                <a:lnTo>
                  <a:pt x="12589721" y="2311931"/>
                </a:lnTo>
                <a:lnTo>
                  <a:pt x="0" y="231193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 name="Group 3"/>
          <p:cNvGrpSpPr/>
          <p:nvPr/>
        </p:nvGrpSpPr>
        <p:grpSpPr>
          <a:xfrm>
            <a:off x="1028700" y="5025349"/>
            <a:ext cx="5180607" cy="4232951"/>
            <a:chOff x="0" y="0"/>
            <a:chExt cx="1424425" cy="1163864"/>
          </a:xfrm>
        </p:grpSpPr>
        <p:sp>
          <p:nvSpPr>
            <p:cNvPr id="4" name="Freeform 4"/>
            <p:cNvSpPr/>
            <p:nvPr/>
          </p:nvSpPr>
          <p:spPr>
            <a:xfrm>
              <a:off x="0" y="0"/>
              <a:ext cx="1424425" cy="1163864"/>
            </a:xfrm>
            <a:custGeom>
              <a:avLst/>
              <a:gdLst/>
              <a:ahLst/>
              <a:cxnLst/>
              <a:rect l="l" t="t" r="r" b="b"/>
              <a:pathLst>
                <a:path w="1424425" h="1163864">
                  <a:moveTo>
                    <a:pt x="101619" y="0"/>
                  </a:moveTo>
                  <a:lnTo>
                    <a:pt x="1322805" y="0"/>
                  </a:lnTo>
                  <a:cubicBezTo>
                    <a:pt x="1378928" y="0"/>
                    <a:pt x="1424425" y="45497"/>
                    <a:pt x="1424425" y="101619"/>
                  </a:cubicBezTo>
                  <a:lnTo>
                    <a:pt x="1424425" y="1062244"/>
                  </a:lnTo>
                  <a:cubicBezTo>
                    <a:pt x="1424425" y="1118367"/>
                    <a:pt x="1378928" y="1163864"/>
                    <a:pt x="1322805" y="1163864"/>
                  </a:cubicBezTo>
                  <a:lnTo>
                    <a:pt x="101619" y="1163864"/>
                  </a:lnTo>
                  <a:cubicBezTo>
                    <a:pt x="45497" y="1163864"/>
                    <a:pt x="0" y="1118367"/>
                    <a:pt x="0" y="1062244"/>
                  </a:cubicBezTo>
                  <a:lnTo>
                    <a:pt x="0" y="101619"/>
                  </a:lnTo>
                  <a:cubicBezTo>
                    <a:pt x="0" y="45497"/>
                    <a:pt x="45497" y="0"/>
                    <a:pt x="101619" y="0"/>
                  </a:cubicBezTo>
                  <a:close/>
                </a:path>
              </a:pathLst>
            </a:custGeom>
            <a:solidFill>
              <a:srgbClr val="7ED957"/>
            </a:solidFill>
            <a:ln w="85725" cap="rnd">
              <a:solidFill>
                <a:srgbClr val="32B72B"/>
              </a:solidFill>
              <a:prstDash val="solid"/>
              <a:round/>
            </a:ln>
          </p:spPr>
          <p:txBody>
            <a:bodyPr/>
            <a:lstStyle/>
            <a:p>
              <a:endParaRPr lang="en-IN"/>
            </a:p>
          </p:txBody>
        </p:sp>
        <p:sp>
          <p:nvSpPr>
            <p:cNvPr id="5" name="TextBox 5"/>
            <p:cNvSpPr txBox="1"/>
            <p:nvPr/>
          </p:nvSpPr>
          <p:spPr>
            <a:xfrm>
              <a:off x="0" y="-38100"/>
              <a:ext cx="1424425" cy="1201964"/>
            </a:xfrm>
            <a:prstGeom prst="rect">
              <a:avLst/>
            </a:prstGeom>
          </p:spPr>
          <p:txBody>
            <a:bodyPr lIns="50800" tIns="50800" rIns="50800" bIns="50800" rtlCol="0" anchor="ctr"/>
            <a:lstStyle/>
            <a:p>
              <a:pPr marL="0" lvl="0" indent="0" algn="ctr">
                <a:lnSpc>
                  <a:spcPts val="2659"/>
                </a:lnSpc>
              </a:pPr>
              <a:endParaRPr/>
            </a:p>
          </p:txBody>
        </p:sp>
      </p:grpSp>
      <p:grpSp>
        <p:nvGrpSpPr>
          <p:cNvPr id="6" name="Group 6"/>
          <p:cNvGrpSpPr/>
          <p:nvPr/>
        </p:nvGrpSpPr>
        <p:grpSpPr>
          <a:xfrm>
            <a:off x="6556097" y="5025349"/>
            <a:ext cx="5180607" cy="4232951"/>
            <a:chOff x="0" y="0"/>
            <a:chExt cx="1424425" cy="1163864"/>
          </a:xfrm>
        </p:grpSpPr>
        <p:sp>
          <p:nvSpPr>
            <p:cNvPr id="7" name="Freeform 7"/>
            <p:cNvSpPr/>
            <p:nvPr/>
          </p:nvSpPr>
          <p:spPr>
            <a:xfrm>
              <a:off x="0" y="0"/>
              <a:ext cx="1424425" cy="1163864"/>
            </a:xfrm>
            <a:custGeom>
              <a:avLst/>
              <a:gdLst/>
              <a:ahLst/>
              <a:cxnLst/>
              <a:rect l="l" t="t" r="r" b="b"/>
              <a:pathLst>
                <a:path w="1424425" h="1163864">
                  <a:moveTo>
                    <a:pt x="101619" y="0"/>
                  </a:moveTo>
                  <a:lnTo>
                    <a:pt x="1322805" y="0"/>
                  </a:lnTo>
                  <a:cubicBezTo>
                    <a:pt x="1378928" y="0"/>
                    <a:pt x="1424425" y="45497"/>
                    <a:pt x="1424425" y="101619"/>
                  </a:cubicBezTo>
                  <a:lnTo>
                    <a:pt x="1424425" y="1062244"/>
                  </a:lnTo>
                  <a:cubicBezTo>
                    <a:pt x="1424425" y="1118367"/>
                    <a:pt x="1378928" y="1163864"/>
                    <a:pt x="1322805" y="1163864"/>
                  </a:cubicBezTo>
                  <a:lnTo>
                    <a:pt x="101619" y="1163864"/>
                  </a:lnTo>
                  <a:cubicBezTo>
                    <a:pt x="45497" y="1163864"/>
                    <a:pt x="0" y="1118367"/>
                    <a:pt x="0" y="1062244"/>
                  </a:cubicBezTo>
                  <a:lnTo>
                    <a:pt x="0" y="101619"/>
                  </a:lnTo>
                  <a:cubicBezTo>
                    <a:pt x="0" y="45497"/>
                    <a:pt x="45497" y="0"/>
                    <a:pt x="101619" y="0"/>
                  </a:cubicBezTo>
                  <a:close/>
                </a:path>
              </a:pathLst>
            </a:custGeom>
            <a:solidFill>
              <a:srgbClr val="7ED957"/>
            </a:solidFill>
            <a:ln w="85725" cap="rnd">
              <a:solidFill>
                <a:srgbClr val="32B72B"/>
              </a:solidFill>
              <a:prstDash val="solid"/>
              <a:round/>
            </a:ln>
          </p:spPr>
          <p:txBody>
            <a:bodyPr/>
            <a:lstStyle/>
            <a:p>
              <a:endParaRPr lang="en-IN"/>
            </a:p>
          </p:txBody>
        </p:sp>
        <p:sp>
          <p:nvSpPr>
            <p:cNvPr id="8" name="TextBox 8"/>
            <p:cNvSpPr txBox="1"/>
            <p:nvPr/>
          </p:nvSpPr>
          <p:spPr>
            <a:xfrm>
              <a:off x="0" y="-38100"/>
              <a:ext cx="1424425" cy="1201964"/>
            </a:xfrm>
            <a:prstGeom prst="rect">
              <a:avLst/>
            </a:prstGeom>
          </p:spPr>
          <p:txBody>
            <a:bodyPr lIns="50800" tIns="50800" rIns="50800" bIns="50800" rtlCol="0" anchor="ctr"/>
            <a:lstStyle/>
            <a:p>
              <a:pPr marL="0" lvl="0" indent="0" algn="ctr">
                <a:lnSpc>
                  <a:spcPts val="2659"/>
                </a:lnSpc>
              </a:pPr>
              <a:endParaRPr/>
            </a:p>
          </p:txBody>
        </p:sp>
      </p:grpSp>
      <p:grpSp>
        <p:nvGrpSpPr>
          <p:cNvPr id="9" name="Group 9"/>
          <p:cNvGrpSpPr/>
          <p:nvPr/>
        </p:nvGrpSpPr>
        <p:grpSpPr>
          <a:xfrm>
            <a:off x="12078693" y="5025349"/>
            <a:ext cx="5180607" cy="4232951"/>
            <a:chOff x="0" y="0"/>
            <a:chExt cx="1424425" cy="1163864"/>
          </a:xfrm>
        </p:grpSpPr>
        <p:sp>
          <p:nvSpPr>
            <p:cNvPr id="10" name="Freeform 10"/>
            <p:cNvSpPr/>
            <p:nvPr/>
          </p:nvSpPr>
          <p:spPr>
            <a:xfrm>
              <a:off x="0" y="0"/>
              <a:ext cx="1424425" cy="1163864"/>
            </a:xfrm>
            <a:custGeom>
              <a:avLst/>
              <a:gdLst/>
              <a:ahLst/>
              <a:cxnLst/>
              <a:rect l="l" t="t" r="r" b="b"/>
              <a:pathLst>
                <a:path w="1424425" h="1163864">
                  <a:moveTo>
                    <a:pt x="101619" y="0"/>
                  </a:moveTo>
                  <a:lnTo>
                    <a:pt x="1322805" y="0"/>
                  </a:lnTo>
                  <a:cubicBezTo>
                    <a:pt x="1378928" y="0"/>
                    <a:pt x="1424425" y="45497"/>
                    <a:pt x="1424425" y="101619"/>
                  </a:cubicBezTo>
                  <a:lnTo>
                    <a:pt x="1424425" y="1062244"/>
                  </a:lnTo>
                  <a:cubicBezTo>
                    <a:pt x="1424425" y="1118367"/>
                    <a:pt x="1378928" y="1163864"/>
                    <a:pt x="1322805" y="1163864"/>
                  </a:cubicBezTo>
                  <a:lnTo>
                    <a:pt x="101619" y="1163864"/>
                  </a:lnTo>
                  <a:cubicBezTo>
                    <a:pt x="45497" y="1163864"/>
                    <a:pt x="0" y="1118367"/>
                    <a:pt x="0" y="1062244"/>
                  </a:cubicBezTo>
                  <a:lnTo>
                    <a:pt x="0" y="101619"/>
                  </a:lnTo>
                  <a:cubicBezTo>
                    <a:pt x="0" y="45497"/>
                    <a:pt x="45497" y="0"/>
                    <a:pt x="101619" y="0"/>
                  </a:cubicBezTo>
                  <a:close/>
                </a:path>
              </a:pathLst>
            </a:custGeom>
            <a:solidFill>
              <a:srgbClr val="7ED957"/>
            </a:solidFill>
            <a:ln w="85725" cap="rnd">
              <a:solidFill>
                <a:srgbClr val="32B72B"/>
              </a:solidFill>
              <a:prstDash val="solid"/>
              <a:round/>
            </a:ln>
          </p:spPr>
          <p:txBody>
            <a:bodyPr/>
            <a:lstStyle/>
            <a:p>
              <a:endParaRPr lang="en-IN"/>
            </a:p>
          </p:txBody>
        </p:sp>
        <p:sp>
          <p:nvSpPr>
            <p:cNvPr id="11" name="TextBox 11"/>
            <p:cNvSpPr txBox="1"/>
            <p:nvPr/>
          </p:nvSpPr>
          <p:spPr>
            <a:xfrm>
              <a:off x="0" y="-38100"/>
              <a:ext cx="1424425" cy="1201964"/>
            </a:xfrm>
            <a:prstGeom prst="rect">
              <a:avLst/>
            </a:prstGeom>
          </p:spPr>
          <p:txBody>
            <a:bodyPr lIns="50800" tIns="50800" rIns="50800" bIns="50800" rtlCol="0" anchor="ctr"/>
            <a:lstStyle/>
            <a:p>
              <a:pPr marL="0" lvl="0" indent="0" algn="ctr">
                <a:lnSpc>
                  <a:spcPts val="2659"/>
                </a:lnSpc>
              </a:pPr>
              <a:endParaRPr/>
            </a:p>
          </p:txBody>
        </p:sp>
      </p:grpSp>
      <p:sp>
        <p:nvSpPr>
          <p:cNvPr id="12" name="Freeform 12"/>
          <p:cNvSpPr/>
          <p:nvPr/>
        </p:nvSpPr>
        <p:spPr>
          <a:xfrm>
            <a:off x="3154648" y="3259383"/>
            <a:ext cx="876252" cy="2268613"/>
          </a:xfrm>
          <a:custGeom>
            <a:avLst/>
            <a:gdLst/>
            <a:ahLst/>
            <a:cxnLst/>
            <a:rect l="l" t="t" r="r" b="b"/>
            <a:pathLst>
              <a:path w="876252" h="2268613">
                <a:moveTo>
                  <a:pt x="0" y="0"/>
                </a:moveTo>
                <a:lnTo>
                  <a:pt x="876252" y="0"/>
                </a:lnTo>
                <a:lnTo>
                  <a:pt x="876252" y="2268613"/>
                </a:lnTo>
                <a:lnTo>
                  <a:pt x="0" y="2268613"/>
                </a:lnTo>
                <a:lnTo>
                  <a:pt x="0" y="0"/>
                </a:lnTo>
                <a:close/>
              </a:path>
            </a:pathLst>
          </a:custGeom>
          <a:blipFill>
            <a:blip r:embed="rId3"/>
            <a:stretch>
              <a:fillRect/>
            </a:stretch>
          </a:blipFill>
        </p:spPr>
        <p:txBody>
          <a:bodyPr/>
          <a:lstStyle/>
          <a:p>
            <a:endParaRPr lang="en-IN"/>
          </a:p>
        </p:txBody>
      </p:sp>
      <p:sp>
        <p:nvSpPr>
          <p:cNvPr id="13" name="Freeform 13"/>
          <p:cNvSpPr/>
          <p:nvPr/>
        </p:nvSpPr>
        <p:spPr>
          <a:xfrm>
            <a:off x="8678197" y="3349484"/>
            <a:ext cx="876252" cy="2105110"/>
          </a:xfrm>
          <a:custGeom>
            <a:avLst/>
            <a:gdLst/>
            <a:ahLst/>
            <a:cxnLst/>
            <a:rect l="l" t="t" r="r" b="b"/>
            <a:pathLst>
              <a:path w="876252" h="2105110">
                <a:moveTo>
                  <a:pt x="0" y="0"/>
                </a:moveTo>
                <a:lnTo>
                  <a:pt x="876252" y="0"/>
                </a:lnTo>
                <a:lnTo>
                  <a:pt x="876252" y="2105109"/>
                </a:lnTo>
                <a:lnTo>
                  <a:pt x="0" y="2105109"/>
                </a:lnTo>
                <a:lnTo>
                  <a:pt x="0" y="0"/>
                </a:lnTo>
                <a:close/>
              </a:path>
            </a:pathLst>
          </a:custGeom>
          <a:blipFill>
            <a:blip r:embed="rId4"/>
            <a:stretch>
              <a:fillRect/>
            </a:stretch>
          </a:blipFill>
        </p:spPr>
        <p:txBody>
          <a:bodyPr/>
          <a:lstStyle/>
          <a:p>
            <a:endParaRPr lang="en-IN"/>
          </a:p>
        </p:txBody>
      </p:sp>
      <p:sp>
        <p:nvSpPr>
          <p:cNvPr id="14" name="Freeform 14"/>
          <p:cNvSpPr/>
          <p:nvPr/>
        </p:nvSpPr>
        <p:spPr>
          <a:xfrm>
            <a:off x="14208711" y="3370976"/>
            <a:ext cx="876252" cy="2073969"/>
          </a:xfrm>
          <a:custGeom>
            <a:avLst/>
            <a:gdLst/>
            <a:ahLst/>
            <a:cxnLst/>
            <a:rect l="l" t="t" r="r" b="b"/>
            <a:pathLst>
              <a:path w="876252" h="2073969">
                <a:moveTo>
                  <a:pt x="0" y="0"/>
                </a:moveTo>
                <a:lnTo>
                  <a:pt x="876252" y="0"/>
                </a:lnTo>
                <a:lnTo>
                  <a:pt x="876252" y="2073968"/>
                </a:lnTo>
                <a:lnTo>
                  <a:pt x="0" y="2073968"/>
                </a:lnTo>
                <a:lnTo>
                  <a:pt x="0" y="0"/>
                </a:lnTo>
                <a:close/>
              </a:path>
            </a:pathLst>
          </a:custGeom>
          <a:blipFill>
            <a:blip r:embed="rId5"/>
            <a:stretch>
              <a:fillRect/>
            </a:stretch>
          </a:blipFill>
        </p:spPr>
        <p:txBody>
          <a:bodyPr/>
          <a:lstStyle/>
          <a:p>
            <a:endParaRPr lang="en-IN"/>
          </a:p>
        </p:txBody>
      </p:sp>
      <p:sp>
        <p:nvSpPr>
          <p:cNvPr id="15" name="Freeform 15"/>
          <p:cNvSpPr/>
          <p:nvPr/>
        </p:nvSpPr>
        <p:spPr>
          <a:xfrm>
            <a:off x="1917409" y="1131730"/>
            <a:ext cx="2836897" cy="2013812"/>
          </a:xfrm>
          <a:custGeom>
            <a:avLst/>
            <a:gdLst/>
            <a:ahLst/>
            <a:cxnLst/>
            <a:rect l="l" t="t" r="r" b="b"/>
            <a:pathLst>
              <a:path w="2836897" h="2013812">
                <a:moveTo>
                  <a:pt x="0" y="0"/>
                </a:moveTo>
                <a:lnTo>
                  <a:pt x="2836897" y="0"/>
                </a:lnTo>
                <a:lnTo>
                  <a:pt x="2836897" y="2013812"/>
                </a:lnTo>
                <a:lnTo>
                  <a:pt x="0" y="2013812"/>
                </a:lnTo>
                <a:lnTo>
                  <a:pt x="0" y="0"/>
                </a:lnTo>
                <a:close/>
              </a:path>
            </a:pathLst>
          </a:custGeom>
          <a:blipFill>
            <a:blip r:embed="rId6"/>
            <a:stretch>
              <a:fillRect/>
            </a:stretch>
          </a:blipFill>
        </p:spPr>
        <p:txBody>
          <a:bodyPr/>
          <a:lstStyle/>
          <a:p>
            <a:endParaRPr lang="en-IN"/>
          </a:p>
        </p:txBody>
      </p:sp>
      <p:sp>
        <p:nvSpPr>
          <p:cNvPr id="16" name="TextBox 16"/>
          <p:cNvSpPr txBox="1"/>
          <p:nvPr/>
        </p:nvSpPr>
        <p:spPr>
          <a:xfrm>
            <a:off x="7566477" y="1710508"/>
            <a:ext cx="9140721" cy="608365"/>
          </a:xfrm>
          <a:prstGeom prst="rect">
            <a:avLst/>
          </a:prstGeom>
        </p:spPr>
        <p:txBody>
          <a:bodyPr lIns="0" tIns="0" rIns="0" bIns="0" rtlCol="0" anchor="t">
            <a:spAutoFit/>
          </a:bodyPr>
          <a:lstStyle/>
          <a:p>
            <a:pPr marL="0" lvl="0" indent="0" algn="l">
              <a:lnSpc>
                <a:spcPts val="4584"/>
              </a:lnSpc>
            </a:pPr>
            <a:r>
              <a:rPr lang="en-US" sz="4825" b="1">
                <a:solidFill>
                  <a:srgbClr val="000000"/>
                </a:solidFill>
                <a:latin typeface="Montaser Arabic Bold"/>
                <a:ea typeface="Montaser Arabic Bold"/>
                <a:cs typeface="Montaser Arabic Bold"/>
                <a:sym typeface="Montaser Arabic Bold"/>
              </a:rPr>
              <a:t>DATA Overview</a:t>
            </a:r>
          </a:p>
        </p:txBody>
      </p:sp>
      <p:sp>
        <p:nvSpPr>
          <p:cNvPr id="17" name="TextBox 17"/>
          <p:cNvSpPr txBox="1"/>
          <p:nvPr/>
        </p:nvSpPr>
        <p:spPr>
          <a:xfrm>
            <a:off x="5380448" y="1795989"/>
            <a:ext cx="1036418" cy="610420"/>
          </a:xfrm>
          <a:prstGeom prst="rect">
            <a:avLst/>
          </a:prstGeom>
        </p:spPr>
        <p:txBody>
          <a:bodyPr lIns="0" tIns="0" rIns="0" bIns="0" rtlCol="0" anchor="t">
            <a:spAutoFit/>
          </a:bodyPr>
          <a:lstStyle/>
          <a:p>
            <a:pPr marL="0" lvl="0" indent="0" algn="ctr">
              <a:lnSpc>
                <a:spcPts val="4584"/>
              </a:lnSpc>
            </a:pPr>
            <a:r>
              <a:rPr lang="en-US" sz="4825" b="1">
                <a:solidFill>
                  <a:srgbClr val="000000"/>
                </a:solidFill>
                <a:latin typeface="Montaser Arabic Bold"/>
                <a:ea typeface="Montaser Arabic Bold"/>
                <a:cs typeface="Montaser Arabic Bold"/>
                <a:sym typeface="Montaser Arabic Bold"/>
              </a:rPr>
              <a:t>3</a:t>
            </a:r>
          </a:p>
        </p:txBody>
      </p:sp>
      <p:sp>
        <p:nvSpPr>
          <p:cNvPr id="18" name="TextBox 18"/>
          <p:cNvSpPr txBox="1"/>
          <p:nvPr/>
        </p:nvSpPr>
        <p:spPr>
          <a:xfrm>
            <a:off x="1217935" y="6053451"/>
            <a:ext cx="4749677" cy="2129122"/>
          </a:xfrm>
          <a:prstGeom prst="rect">
            <a:avLst/>
          </a:prstGeom>
        </p:spPr>
        <p:txBody>
          <a:bodyPr lIns="0" tIns="0" rIns="0" bIns="0" rtlCol="0" anchor="t">
            <a:spAutoFit/>
          </a:bodyPr>
          <a:lstStyle/>
          <a:p>
            <a:pPr algn="l">
              <a:lnSpc>
                <a:spcPts val="3339"/>
              </a:lnSpc>
            </a:pPr>
            <a:r>
              <a:rPr lang="en-US" sz="2806" dirty="0">
                <a:solidFill>
                  <a:srgbClr val="000000"/>
                </a:solidFill>
                <a:latin typeface="Codec Pro"/>
                <a:ea typeface="Codec Pro"/>
                <a:cs typeface="Codec Pro"/>
                <a:sym typeface="Codec Pro"/>
              </a:rPr>
              <a:t>Data characteristics: </a:t>
            </a:r>
          </a:p>
          <a:p>
            <a:pPr marL="605931" lvl="1" indent="-302965" algn="l">
              <a:lnSpc>
                <a:spcPts val="3339"/>
              </a:lnSpc>
              <a:buFont typeface="Arial"/>
              <a:buChar char="•"/>
            </a:pPr>
            <a:r>
              <a:rPr lang="en-US" sz="2806" dirty="0">
                <a:solidFill>
                  <a:srgbClr val="000000"/>
                </a:solidFill>
                <a:latin typeface="Codec Pro"/>
                <a:ea typeface="Codec Pro"/>
                <a:cs typeface="Codec Pro"/>
                <a:sym typeface="Codec Pro"/>
              </a:rPr>
              <a:t>30 Fitbit users collected</a:t>
            </a:r>
          </a:p>
          <a:p>
            <a:pPr marL="605931" lvl="1" indent="-302965" algn="l">
              <a:lnSpc>
                <a:spcPts val="3339"/>
              </a:lnSpc>
              <a:buFont typeface="Arial"/>
              <a:buChar char="•"/>
            </a:pPr>
            <a:r>
              <a:rPr lang="en-US" sz="2806" dirty="0">
                <a:solidFill>
                  <a:srgbClr val="000000"/>
                </a:solidFill>
                <a:latin typeface="Codec Pro"/>
                <a:ea typeface="Codec Pro"/>
                <a:cs typeface="Codec Pro"/>
                <a:sym typeface="Codec Pro"/>
              </a:rPr>
              <a:t>Final dataset: 24 users</a:t>
            </a:r>
          </a:p>
          <a:p>
            <a:pPr marL="605931" lvl="1" indent="-302965" algn="l">
              <a:lnSpc>
                <a:spcPts val="3339"/>
              </a:lnSpc>
              <a:buFont typeface="Arial"/>
              <a:buChar char="•"/>
            </a:pPr>
            <a:r>
              <a:rPr lang="en-US" sz="2806" dirty="0">
                <a:solidFill>
                  <a:srgbClr val="000000"/>
                </a:solidFill>
                <a:latin typeface="Codec Pro"/>
                <a:ea typeface="Codec Pro"/>
                <a:cs typeface="Codec Pro"/>
                <a:sym typeface="Codec Pro"/>
              </a:rPr>
              <a:t>410 observations</a:t>
            </a:r>
          </a:p>
          <a:p>
            <a:pPr marL="0" lvl="0" indent="0" algn="l">
              <a:lnSpc>
                <a:spcPts val="3339"/>
              </a:lnSpc>
            </a:pPr>
            <a:endParaRPr lang="en-US" sz="2806" dirty="0">
              <a:solidFill>
                <a:srgbClr val="000000"/>
              </a:solidFill>
              <a:latin typeface="Codec Pro"/>
              <a:ea typeface="Codec Pro"/>
              <a:cs typeface="Codec Pro"/>
              <a:sym typeface="Codec Pro"/>
            </a:endParaRPr>
          </a:p>
        </p:txBody>
      </p:sp>
      <p:sp>
        <p:nvSpPr>
          <p:cNvPr id="19" name="TextBox 19"/>
          <p:cNvSpPr txBox="1"/>
          <p:nvPr/>
        </p:nvSpPr>
        <p:spPr>
          <a:xfrm>
            <a:off x="7534418" y="5869506"/>
            <a:ext cx="4040061" cy="2298394"/>
          </a:xfrm>
          <a:prstGeom prst="rect">
            <a:avLst/>
          </a:prstGeom>
        </p:spPr>
        <p:txBody>
          <a:bodyPr lIns="0" tIns="0" rIns="0" bIns="0" rtlCol="0" anchor="t">
            <a:spAutoFit/>
          </a:bodyPr>
          <a:lstStyle/>
          <a:p>
            <a:pPr algn="l">
              <a:lnSpc>
                <a:spcPts val="3010"/>
              </a:lnSpc>
            </a:pPr>
            <a:r>
              <a:rPr lang="en-US" sz="2529" dirty="0">
                <a:solidFill>
                  <a:srgbClr val="000000"/>
                </a:solidFill>
                <a:latin typeface="Codec Pro"/>
                <a:ea typeface="Codec Pro"/>
                <a:cs typeface="Codec Pro"/>
                <a:sym typeface="Codec Pro"/>
              </a:rPr>
              <a:t>Metrics Included: </a:t>
            </a:r>
          </a:p>
          <a:p>
            <a:pPr marL="546161" lvl="1" indent="-273081" algn="l">
              <a:lnSpc>
                <a:spcPts val="3010"/>
              </a:lnSpc>
              <a:buFont typeface="Arial"/>
              <a:buChar char="•"/>
            </a:pPr>
            <a:r>
              <a:rPr lang="en-US" sz="2529" dirty="0">
                <a:solidFill>
                  <a:srgbClr val="000000"/>
                </a:solidFill>
                <a:latin typeface="Codec Pro"/>
                <a:ea typeface="Codec Pro"/>
                <a:cs typeface="Codec Pro"/>
                <a:sym typeface="Codec Pro"/>
              </a:rPr>
              <a:t>Daily Steps</a:t>
            </a:r>
          </a:p>
          <a:p>
            <a:pPr marL="546161" lvl="1" indent="-273081" algn="l">
              <a:lnSpc>
                <a:spcPts val="3010"/>
              </a:lnSpc>
              <a:buFont typeface="Arial"/>
              <a:buChar char="•"/>
            </a:pPr>
            <a:r>
              <a:rPr lang="en-US" sz="2529" dirty="0">
                <a:solidFill>
                  <a:srgbClr val="000000"/>
                </a:solidFill>
                <a:latin typeface="Codec Pro"/>
                <a:ea typeface="Codec Pro"/>
                <a:cs typeface="Codec Pro"/>
                <a:sym typeface="Codec Pro"/>
              </a:rPr>
              <a:t>Sleep Duration</a:t>
            </a:r>
          </a:p>
          <a:p>
            <a:pPr marL="546161" lvl="1" indent="-273081" algn="l">
              <a:lnSpc>
                <a:spcPts val="3010"/>
              </a:lnSpc>
              <a:buFont typeface="Arial"/>
              <a:buChar char="•"/>
            </a:pPr>
            <a:r>
              <a:rPr lang="en-US" sz="2529" dirty="0">
                <a:solidFill>
                  <a:srgbClr val="000000"/>
                </a:solidFill>
                <a:latin typeface="Codec Pro"/>
                <a:ea typeface="Codec Pro"/>
                <a:cs typeface="Codec Pro"/>
                <a:sym typeface="Codec Pro"/>
              </a:rPr>
              <a:t>Sedentary Time</a:t>
            </a:r>
          </a:p>
          <a:p>
            <a:pPr marL="546161" lvl="1" indent="-273081" algn="l">
              <a:lnSpc>
                <a:spcPts val="3010"/>
              </a:lnSpc>
              <a:buFont typeface="Arial"/>
              <a:buChar char="•"/>
            </a:pPr>
            <a:r>
              <a:rPr lang="en-US" sz="2529" dirty="0">
                <a:solidFill>
                  <a:srgbClr val="000000"/>
                </a:solidFill>
                <a:latin typeface="Codec Pro"/>
                <a:ea typeface="Codec Pro"/>
                <a:cs typeface="Codec Pro"/>
                <a:sym typeface="Codec Pro"/>
              </a:rPr>
              <a:t>Active Minutes</a:t>
            </a:r>
          </a:p>
          <a:p>
            <a:pPr marL="0" lvl="0" indent="0" algn="l">
              <a:lnSpc>
                <a:spcPts val="3010"/>
              </a:lnSpc>
            </a:pPr>
            <a:endParaRPr lang="en-US" sz="2529" dirty="0">
              <a:solidFill>
                <a:srgbClr val="000000"/>
              </a:solidFill>
              <a:latin typeface="Codec Pro"/>
              <a:ea typeface="Codec Pro"/>
              <a:cs typeface="Codec Pro"/>
              <a:sym typeface="Codec Pro"/>
            </a:endParaRPr>
          </a:p>
        </p:txBody>
      </p:sp>
      <p:sp>
        <p:nvSpPr>
          <p:cNvPr id="20" name="TextBox 20"/>
          <p:cNvSpPr txBox="1"/>
          <p:nvPr/>
        </p:nvSpPr>
        <p:spPr>
          <a:xfrm>
            <a:off x="12510069" y="5879031"/>
            <a:ext cx="4522855" cy="1910844"/>
          </a:xfrm>
          <a:prstGeom prst="rect">
            <a:avLst/>
          </a:prstGeom>
        </p:spPr>
        <p:txBody>
          <a:bodyPr lIns="0" tIns="0" rIns="0" bIns="0" rtlCol="0" anchor="t">
            <a:spAutoFit/>
          </a:bodyPr>
          <a:lstStyle/>
          <a:p>
            <a:pPr algn="l">
              <a:lnSpc>
                <a:spcPts val="2969"/>
              </a:lnSpc>
            </a:pPr>
            <a:r>
              <a:rPr lang="en-US" sz="2495" dirty="0">
                <a:solidFill>
                  <a:srgbClr val="000000"/>
                </a:solidFill>
                <a:latin typeface="Codec Pro"/>
                <a:ea typeface="Codec Pro"/>
                <a:cs typeface="Codec Pro"/>
                <a:sym typeface="Codec Pro"/>
              </a:rPr>
              <a:t>Tools Used: </a:t>
            </a:r>
          </a:p>
          <a:p>
            <a:pPr algn="l">
              <a:lnSpc>
                <a:spcPts val="2969"/>
              </a:lnSpc>
            </a:pPr>
            <a:r>
              <a:rPr lang="en-US" sz="2495" dirty="0">
                <a:solidFill>
                  <a:srgbClr val="000000"/>
                </a:solidFill>
                <a:latin typeface="Codec Pro"/>
                <a:ea typeface="Codec Pro"/>
                <a:cs typeface="Codec Pro"/>
                <a:sym typeface="Codec Pro"/>
              </a:rPr>
              <a:t>Cleaning - Python</a:t>
            </a:r>
          </a:p>
          <a:p>
            <a:pPr algn="l">
              <a:lnSpc>
                <a:spcPts val="2969"/>
              </a:lnSpc>
            </a:pPr>
            <a:r>
              <a:rPr lang="en-US" sz="2495" dirty="0">
                <a:solidFill>
                  <a:srgbClr val="000000"/>
                </a:solidFill>
                <a:latin typeface="Codec Pro"/>
                <a:ea typeface="Codec Pro"/>
                <a:cs typeface="Codec Pro"/>
                <a:sym typeface="Codec Pro"/>
              </a:rPr>
              <a:t>Transforming - Python </a:t>
            </a:r>
          </a:p>
          <a:p>
            <a:pPr algn="l">
              <a:lnSpc>
                <a:spcPts val="2969"/>
              </a:lnSpc>
            </a:pPr>
            <a:r>
              <a:rPr lang="en-US" sz="2495" dirty="0">
                <a:solidFill>
                  <a:srgbClr val="000000"/>
                </a:solidFill>
                <a:latin typeface="Codec Pro"/>
                <a:ea typeface="Codec Pro"/>
                <a:cs typeface="Codec Pro"/>
                <a:sym typeface="Codec Pro"/>
              </a:rPr>
              <a:t>Analysis - Python </a:t>
            </a:r>
          </a:p>
          <a:p>
            <a:pPr marL="0" lvl="0" indent="0" algn="l">
              <a:lnSpc>
                <a:spcPts val="2969"/>
              </a:lnSpc>
            </a:pPr>
            <a:r>
              <a:rPr lang="en-US" sz="2495" dirty="0">
                <a:solidFill>
                  <a:srgbClr val="000000"/>
                </a:solidFill>
                <a:latin typeface="Codec Pro"/>
                <a:ea typeface="Codec Pro"/>
                <a:cs typeface="Codec Pro"/>
                <a:sym typeface="Codec Pro"/>
              </a:rPr>
              <a:t>Visualization - Tableau</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669579" y="1028700"/>
            <a:ext cx="10868501" cy="1995852"/>
          </a:xfrm>
          <a:custGeom>
            <a:avLst/>
            <a:gdLst/>
            <a:ahLst/>
            <a:cxnLst/>
            <a:rect l="l" t="t" r="r" b="b"/>
            <a:pathLst>
              <a:path w="10868501" h="1995852">
                <a:moveTo>
                  <a:pt x="0" y="0"/>
                </a:moveTo>
                <a:lnTo>
                  <a:pt x="10868502" y="0"/>
                </a:lnTo>
                <a:lnTo>
                  <a:pt x="10868502" y="1995852"/>
                </a:lnTo>
                <a:lnTo>
                  <a:pt x="0" y="19958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1855355" y="926909"/>
            <a:ext cx="2332081" cy="2441300"/>
          </a:xfrm>
          <a:custGeom>
            <a:avLst/>
            <a:gdLst/>
            <a:ahLst/>
            <a:cxnLst/>
            <a:rect l="l" t="t" r="r" b="b"/>
            <a:pathLst>
              <a:path w="2332081" h="2441300">
                <a:moveTo>
                  <a:pt x="0" y="0"/>
                </a:moveTo>
                <a:lnTo>
                  <a:pt x="2332081" y="0"/>
                </a:lnTo>
                <a:lnTo>
                  <a:pt x="2332081" y="2441300"/>
                </a:lnTo>
                <a:lnTo>
                  <a:pt x="0" y="2441300"/>
                </a:lnTo>
                <a:lnTo>
                  <a:pt x="0" y="0"/>
                </a:lnTo>
                <a:close/>
              </a:path>
            </a:pathLst>
          </a:custGeom>
          <a:blipFill>
            <a:blip r:embed="rId3"/>
            <a:stretch>
              <a:fillRect t="-3134" b="-9249"/>
            </a:stretch>
          </a:blipFill>
        </p:spPr>
        <p:txBody>
          <a:bodyPr/>
          <a:lstStyle/>
          <a:p>
            <a:endParaRPr lang="en-IN"/>
          </a:p>
        </p:txBody>
      </p:sp>
      <p:sp>
        <p:nvSpPr>
          <p:cNvPr id="4" name="Freeform 4"/>
          <p:cNvSpPr/>
          <p:nvPr/>
        </p:nvSpPr>
        <p:spPr>
          <a:xfrm>
            <a:off x="7374905" y="3368210"/>
            <a:ext cx="10177413" cy="4772750"/>
          </a:xfrm>
          <a:custGeom>
            <a:avLst/>
            <a:gdLst/>
            <a:ahLst/>
            <a:cxnLst/>
            <a:rect l="l" t="t" r="r" b="b"/>
            <a:pathLst>
              <a:path w="11301259" h="5112539">
                <a:moveTo>
                  <a:pt x="0" y="0"/>
                </a:moveTo>
                <a:lnTo>
                  <a:pt x="11301259" y="0"/>
                </a:lnTo>
                <a:lnTo>
                  <a:pt x="11301259" y="5112539"/>
                </a:lnTo>
                <a:lnTo>
                  <a:pt x="0" y="5112539"/>
                </a:lnTo>
                <a:lnTo>
                  <a:pt x="0" y="0"/>
                </a:lnTo>
                <a:close/>
              </a:path>
            </a:pathLst>
          </a:custGeom>
          <a:blipFill>
            <a:blip r:embed="rId4"/>
            <a:stretch>
              <a:fillRect t="-3893"/>
            </a:stretch>
          </a:blipFill>
        </p:spPr>
        <p:txBody>
          <a:bodyPr/>
          <a:lstStyle/>
          <a:p>
            <a:endParaRPr lang="en-IN"/>
          </a:p>
        </p:txBody>
      </p:sp>
      <p:sp>
        <p:nvSpPr>
          <p:cNvPr id="5" name="TextBox 5"/>
          <p:cNvSpPr txBox="1"/>
          <p:nvPr/>
        </p:nvSpPr>
        <p:spPr>
          <a:xfrm>
            <a:off x="7566477" y="1710508"/>
            <a:ext cx="7749420" cy="680269"/>
          </a:xfrm>
          <a:prstGeom prst="rect">
            <a:avLst/>
          </a:prstGeom>
        </p:spPr>
        <p:txBody>
          <a:bodyPr lIns="0" tIns="0" rIns="0" bIns="0" rtlCol="0" anchor="t">
            <a:spAutoFit/>
          </a:bodyPr>
          <a:lstStyle/>
          <a:p>
            <a:pPr marL="0" lvl="0" indent="0" algn="l">
              <a:lnSpc>
                <a:spcPts val="5030"/>
              </a:lnSpc>
            </a:pPr>
            <a:r>
              <a:rPr lang="en-US" sz="5295" b="1">
                <a:solidFill>
                  <a:srgbClr val="000000"/>
                </a:solidFill>
                <a:latin typeface="Montaser Arabic Bold"/>
                <a:ea typeface="Montaser Arabic Bold"/>
                <a:cs typeface="Montaser Arabic Bold"/>
                <a:sym typeface="Montaser Arabic Bold"/>
              </a:rPr>
              <a:t>User Overview</a:t>
            </a:r>
          </a:p>
        </p:txBody>
      </p:sp>
      <p:sp>
        <p:nvSpPr>
          <p:cNvPr id="6" name="TextBox 6"/>
          <p:cNvSpPr txBox="1"/>
          <p:nvPr/>
        </p:nvSpPr>
        <p:spPr>
          <a:xfrm>
            <a:off x="5380448" y="1815039"/>
            <a:ext cx="1036418" cy="807915"/>
          </a:xfrm>
          <a:prstGeom prst="rect">
            <a:avLst/>
          </a:prstGeom>
        </p:spPr>
        <p:txBody>
          <a:bodyPr lIns="0" tIns="0" rIns="0" bIns="0" rtlCol="0" anchor="t">
            <a:spAutoFit/>
          </a:bodyPr>
          <a:lstStyle/>
          <a:p>
            <a:pPr marL="0" lvl="0" indent="0" algn="ctr">
              <a:lnSpc>
                <a:spcPts val="5933"/>
              </a:lnSpc>
            </a:pPr>
            <a:r>
              <a:rPr lang="en-US" sz="6246" b="1">
                <a:solidFill>
                  <a:srgbClr val="000000"/>
                </a:solidFill>
                <a:latin typeface="Montaser Arabic Bold"/>
                <a:ea typeface="Montaser Arabic Bold"/>
                <a:cs typeface="Montaser Arabic Bold"/>
                <a:sym typeface="Montaser Arabic Bold"/>
              </a:rPr>
              <a:t>4</a:t>
            </a:r>
          </a:p>
        </p:txBody>
      </p:sp>
      <p:sp>
        <p:nvSpPr>
          <p:cNvPr id="7" name="TextBox 7"/>
          <p:cNvSpPr txBox="1"/>
          <p:nvPr/>
        </p:nvSpPr>
        <p:spPr>
          <a:xfrm>
            <a:off x="1683350" y="4234543"/>
            <a:ext cx="5121036" cy="3502559"/>
          </a:xfrm>
          <a:prstGeom prst="rect">
            <a:avLst/>
          </a:prstGeom>
        </p:spPr>
        <p:txBody>
          <a:bodyPr lIns="0" tIns="0" rIns="0" bIns="0" rtlCol="0" anchor="t">
            <a:spAutoFit/>
          </a:bodyPr>
          <a:lstStyle/>
          <a:p>
            <a:pPr algn="l">
              <a:lnSpc>
                <a:spcPts val="3069"/>
              </a:lnSpc>
            </a:pPr>
            <a:r>
              <a:rPr lang="en-US" sz="2579">
                <a:solidFill>
                  <a:srgbClr val="000000"/>
                </a:solidFill>
                <a:latin typeface="Codec Pro"/>
                <a:ea typeface="Codec Pro"/>
                <a:cs typeface="Codec Pro"/>
                <a:sym typeface="Codec Pro"/>
              </a:rPr>
              <a:t>Key Findings</a:t>
            </a:r>
          </a:p>
          <a:p>
            <a:pPr marL="556891" lvl="1" indent="-278445" algn="l">
              <a:lnSpc>
                <a:spcPts val="3069"/>
              </a:lnSpc>
              <a:buFont typeface="Arial"/>
              <a:buChar char="•"/>
            </a:pPr>
            <a:r>
              <a:rPr lang="en-US" sz="2579">
                <a:solidFill>
                  <a:srgbClr val="000000"/>
                </a:solidFill>
                <a:latin typeface="Codec Pro"/>
                <a:ea typeface="Codec Pro"/>
                <a:cs typeface="Codec Pro"/>
                <a:sym typeface="Codec Pro"/>
              </a:rPr>
              <a:t>Average Daily Steps: 8,515</a:t>
            </a:r>
          </a:p>
          <a:p>
            <a:pPr marL="556891" lvl="1" indent="-278445" algn="l">
              <a:lnSpc>
                <a:spcPts val="3069"/>
              </a:lnSpc>
              <a:buFont typeface="Arial"/>
              <a:buChar char="•"/>
            </a:pPr>
            <a:r>
              <a:rPr lang="en-US" sz="2579">
                <a:solidFill>
                  <a:srgbClr val="000000"/>
                </a:solidFill>
                <a:latin typeface="Codec Pro"/>
                <a:ea typeface="Codec Pro"/>
                <a:cs typeface="Codec Pro"/>
                <a:sym typeface="Codec Pro"/>
              </a:rPr>
              <a:t>Average Sleep Duration: 6.99 hrs</a:t>
            </a:r>
          </a:p>
          <a:p>
            <a:pPr marL="556891" lvl="1" indent="-278445" algn="l">
              <a:lnSpc>
                <a:spcPts val="3069"/>
              </a:lnSpc>
              <a:buFont typeface="Arial"/>
              <a:buChar char="•"/>
            </a:pPr>
            <a:r>
              <a:rPr lang="en-US" sz="2579">
                <a:solidFill>
                  <a:srgbClr val="000000"/>
                </a:solidFill>
                <a:latin typeface="Codec Pro"/>
                <a:ea typeface="Codec Pro"/>
                <a:cs typeface="Codec Pro"/>
                <a:sym typeface="Codec Pro"/>
              </a:rPr>
              <a:t>Average Sedentary Time: 11.87 hrs</a:t>
            </a:r>
          </a:p>
          <a:p>
            <a:pPr marL="556891" lvl="1" indent="-278445" algn="l">
              <a:lnSpc>
                <a:spcPts val="3069"/>
              </a:lnSpc>
              <a:buFont typeface="Arial"/>
              <a:buChar char="•"/>
            </a:pPr>
            <a:r>
              <a:rPr lang="en-US" sz="2579">
                <a:solidFill>
                  <a:srgbClr val="000000"/>
                </a:solidFill>
                <a:latin typeface="Codec Pro"/>
                <a:ea typeface="Codec Pro"/>
                <a:cs typeface="Codec Pro"/>
                <a:sym typeface="Codec Pro"/>
              </a:rPr>
              <a:t>76.58% of observations are moderately or highly active</a:t>
            </a:r>
          </a:p>
          <a:p>
            <a:pPr marL="0" lvl="0" indent="0" algn="l">
              <a:lnSpc>
                <a:spcPts val="3069"/>
              </a:lnSpc>
            </a:pPr>
            <a:endParaRPr lang="en-US" sz="2579">
              <a:solidFill>
                <a:srgbClr val="000000"/>
              </a:solidFill>
              <a:latin typeface="Codec Pro"/>
              <a:ea typeface="Codec Pro"/>
              <a:cs typeface="Codec Pro"/>
              <a:sym typeface="Codec Pro"/>
            </a:endParaRPr>
          </a:p>
        </p:txBody>
      </p:sp>
      <p:sp>
        <p:nvSpPr>
          <p:cNvPr id="8" name="TextBox 8"/>
          <p:cNvSpPr txBox="1"/>
          <p:nvPr/>
        </p:nvSpPr>
        <p:spPr>
          <a:xfrm>
            <a:off x="735682" y="8140959"/>
            <a:ext cx="8843291" cy="1374440"/>
          </a:xfrm>
          <a:prstGeom prst="rect">
            <a:avLst/>
          </a:prstGeom>
        </p:spPr>
        <p:txBody>
          <a:bodyPr lIns="0" tIns="0" rIns="0" bIns="0" rtlCol="0" anchor="t">
            <a:spAutoFit/>
          </a:bodyPr>
          <a:lstStyle/>
          <a:p>
            <a:pPr algn="l">
              <a:lnSpc>
                <a:spcPts val="2660"/>
              </a:lnSpc>
            </a:pPr>
            <a:r>
              <a:rPr lang="en-US" sz="2235">
                <a:solidFill>
                  <a:srgbClr val="000000"/>
                </a:solidFill>
                <a:latin typeface="Codec Pro"/>
                <a:ea typeface="Codec Pro"/>
                <a:cs typeface="Codec Pro"/>
                <a:sym typeface="Codec Pro"/>
              </a:rPr>
              <a:t>Insight</a:t>
            </a:r>
          </a:p>
          <a:p>
            <a:pPr algn="l">
              <a:lnSpc>
                <a:spcPts val="2660"/>
              </a:lnSpc>
            </a:pPr>
            <a:r>
              <a:rPr lang="en-US" sz="2235">
                <a:solidFill>
                  <a:srgbClr val="000000"/>
                </a:solidFill>
                <a:latin typeface="Codec Pro"/>
                <a:ea typeface="Codec Pro"/>
                <a:cs typeface="Codec Pro"/>
                <a:sym typeface="Codec Pro"/>
              </a:rPr>
              <a:t>Most users maintain active lifestyles but spend substantial time sedentary.</a:t>
            </a:r>
          </a:p>
          <a:p>
            <a:pPr marL="0" lvl="0" indent="0" algn="l">
              <a:lnSpc>
                <a:spcPts val="2660"/>
              </a:lnSpc>
            </a:pPr>
            <a:endParaRPr lang="en-US" sz="2235">
              <a:solidFill>
                <a:srgbClr val="000000"/>
              </a:solidFill>
              <a:latin typeface="Codec Pro"/>
              <a:ea typeface="Codec Pro"/>
              <a:cs typeface="Codec Pro"/>
              <a:sym typeface="Codec Pr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56318" y="938427"/>
            <a:ext cx="11982878" cy="2200492"/>
          </a:xfrm>
          <a:custGeom>
            <a:avLst/>
            <a:gdLst/>
            <a:ahLst/>
            <a:cxnLst/>
            <a:rect l="l" t="t" r="r" b="b"/>
            <a:pathLst>
              <a:path w="11982878" h="2200492">
                <a:moveTo>
                  <a:pt x="0" y="0"/>
                </a:moveTo>
                <a:lnTo>
                  <a:pt x="11982878" y="0"/>
                </a:lnTo>
                <a:lnTo>
                  <a:pt x="11982878" y="2200492"/>
                </a:lnTo>
                <a:lnTo>
                  <a:pt x="0" y="220049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581633" y="4107704"/>
            <a:ext cx="833609" cy="849724"/>
          </a:xfrm>
          <a:custGeom>
            <a:avLst/>
            <a:gdLst/>
            <a:ahLst/>
            <a:cxnLst/>
            <a:rect l="l" t="t" r="r" b="b"/>
            <a:pathLst>
              <a:path w="833609" h="849724">
                <a:moveTo>
                  <a:pt x="0" y="0"/>
                </a:moveTo>
                <a:lnTo>
                  <a:pt x="833609" y="0"/>
                </a:lnTo>
                <a:lnTo>
                  <a:pt x="833609" y="849724"/>
                </a:lnTo>
                <a:lnTo>
                  <a:pt x="0" y="849724"/>
                </a:lnTo>
                <a:lnTo>
                  <a:pt x="0" y="0"/>
                </a:lnTo>
                <a:close/>
              </a:path>
            </a:pathLst>
          </a:custGeom>
          <a:blipFill>
            <a:blip r:embed="rId3"/>
            <a:stretch>
              <a:fillRect/>
            </a:stretch>
          </a:blipFill>
        </p:spPr>
        <p:txBody>
          <a:bodyPr/>
          <a:lstStyle/>
          <a:p>
            <a:endParaRPr lang="en-IN"/>
          </a:p>
        </p:txBody>
      </p:sp>
      <p:sp>
        <p:nvSpPr>
          <p:cNvPr id="4" name="Freeform 4"/>
          <p:cNvSpPr/>
          <p:nvPr/>
        </p:nvSpPr>
        <p:spPr>
          <a:xfrm>
            <a:off x="642158" y="5926213"/>
            <a:ext cx="773084" cy="768117"/>
          </a:xfrm>
          <a:custGeom>
            <a:avLst/>
            <a:gdLst/>
            <a:ahLst/>
            <a:cxnLst/>
            <a:rect l="l" t="t" r="r" b="b"/>
            <a:pathLst>
              <a:path w="773084" h="768117">
                <a:moveTo>
                  <a:pt x="0" y="0"/>
                </a:moveTo>
                <a:lnTo>
                  <a:pt x="773084" y="0"/>
                </a:lnTo>
                <a:lnTo>
                  <a:pt x="773084" y="768117"/>
                </a:lnTo>
                <a:lnTo>
                  <a:pt x="0" y="768117"/>
                </a:lnTo>
                <a:lnTo>
                  <a:pt x="0" y="0"/>
                </a:lnTo>
                <a:close/>
              </a:path>
            </a:pathLst>
          </a:custGeom>
          <a:blipFill>
            <a:blip r:embed="rId4"/>
            <a:stretch>
              <a:fillRect/>
            </a:stretch>
          </a:blipFill>
        </p:spPr>
        <p:txBody>
          <a:bodyPr/>
          <a:lstStyle/>
          <a:p>
            <a:endParaRPr lang="en-IN"/>
          </a:p>
        </p:txBody>
      </p:sp>
      <p:sp>
        <p:nvSpPr>
          <p:cNvPr id="5" name="Freeform 5"/>
          <p:cNvSpPr/>
          <p:nvPr/>
        </p:nvSpPr>
        <p:spPr>
          <a:xfrm>
            <a:off x="11771014" y="3071157"/>
            <a:ext cx="6342588" cy="3431439"/>
          </a:xfrm>
          <a:custGeom>
            <a:avLst/>
            <a:gdLst/>
            <a:ahLst/>
            <a:cxnLst/>
            <a:rect l="l" t="t" r="r" b="b"/>
            <a:pathLst>
              <a:path w="6342588" h="3431439">
                <a:moveTo>
                  <a:pt x="0" y="0"/>
                </a:moveTo>
                <a:lnTo>
                  <a:pt x="6342588" y="0"/>
                </a:lnTo>
                <a:lnTo>
                  <a:pt x="6342588" y="3431439"/>
                </a:lnTo>
                <a:lnTo>
                  <a:pt x="0" y="3431439"/>
                </a:lnTo>
                <a:lnTo>
                  <a:pt x="0" y="0"/>
                </a:lnTo>
                <a:close/>
              </a:path>
            </a:pathLst>
          </a:custGeom>
          <a:blipFill>
            <a:blip r:embed="rId5"/>
            <a:stretch>
              <a:fillRect/>
            </a:stretch>
          </a:blipFill>
        </p:spPr>
        <p:txBody>
          <a:bodyPr/>
          <a:lstStyle/>
          <a:p>
            <a:endParaRPr lang="en-IN"/>
          </a:p>
        </p:txBody>
      </p:sp>
      <p:sp>
        <p:nvSpPr>
          <p:cNvPr id="6" name="Freeform 6"/>
          <p:cNvSpPr/>
          <p:nvPr/>
        </p:nvSpPr>
        <p:spPr>
          <a:xfrm>
            <a:off x="11771015" y="6498226"/>
            <a:ext cx="6342588" cy="3703163"/>
          </a:xfrm>
          <a:custGeom>
            <a:avLst/>
            <a:gdLst/>
            <a:ahLst/>
            <a:cxnLst/>
            <a:rect l="l" t="t" r="r" b="b"/>
            <a:pathLst>
              <a:path w="5066357" h="3703163">
                <a:moveTo>
                  <a:pt x="0" y="0"/>
                </a:moveTo>
                <a:lnTo>
                  <a:pt x="5066357" y="0"/>
                </a:lnTo>
                <a:lnTo>
                  <a:pt x="5066357" y="3703163"/>
                </a:lnTo>
                <a:lnTo>
                  <a:pt x="0" y="3703163"/>
                </a:lnTo>
                <a:lnTo>
                  <a:pt x="0" y="0"/>
                </a:lnTo>
                <a:close/>
              </a:path>
            </a:pathLst>
          </a:custGeom>
          <a:blipFill>
            <a:blip r:embed="rId6"/>
            <a:stretch>
              <a:fillRect/>
            </a:stretch>
          </a:blipFill>
        </p:spPr>
        <p:txBody>
          <a:bodyPr/>
          <a:lstStyle/>
          <a:p>
            <a:endParaRPr lang="en-IN"/>
          </a:p>
        </p:txBody>
      </p:sp>
      <p:sp>
        <p:nvSpPr>
          <p:cNvPr id="7" name="Freeform 7"/>
          <p:cNvSpPr/>
          <p:nvPr/>
        </p:nvSpPr>
        <p:spPr>
          <a:xfrm>
            <a:off x="998437" y="7075330"/>
            <a:ext cx="10583963" cy="3016963"/>
          </a:xfrm>
          <a:custGeom>
            <a:avLst/>
            <a:gdLst/>
            <a:ahLst/>
            <a:cxnLst/>
            <a:rect l="l" t="t" r="r" b="b"/>
            <a:pathLst>
              <a:path w="10952952" h="3016963">
                <a:moveTo>
                  <a:pt x="0" y="0"/>
                </a:moveTo>
                <a:lnTo>
                  <a:pt x="10952953" y="0"/>
                </a:lnTo>
                <a:lnTo>
                  <a:pt x="10952953" y="3016963"/>
                </a:lnTo>
                <a:lnTo>
                  <a:pt x="0" y="3016963"/>
                </a:lnTo>
                <a:lnTo>
                  <a:pt x="0" y="0"/>
                </a:lnTo>
                <a:close/>
              </a:path>
            </a:pathLst>
          </a:custGeom>
          <a:blipFill>
            <a:blip r:embed="rId7"/>
            <a:stretch>
              <a:fillRect l="-497" r="-1050"/>
            </a:stretch>
          </a:blipFill>
        </p:spPr>
        <p:txBody>
          <a:bodyPr/>
          <a:lstStyle/>
          <a:p>
            <a:endParaRPr lang="en-IN"/>
          </a:p>
        </p:txBody>
      </p:sp>
      <p:sp>
        <p:nvSpPr>
          <p:cNvPr id="8" name="TextBox 8"/>
          <p:cNvSpPr txBox="1"/>
          <p:nvPr/>
        </p:nvSpPr>
        <p:spPr>
          <a:xfrm>
            <a:off x="1573123" y="3922635"/>
            <a:ext cx="10776916" cy="2003578"/>
          </a:xfrm>
          <a:prstGeom prst="rect">
            <a:avLst/>
          </a:prstGeom>
        </p:spPr>
        <p:txBody>
          <a:bodyPr lIns="0" tIns="0" rIns="0" bIns="0" rtlCol="0" anchor="t">
            <a:spAutoFit/>
          </a:bodyPr>
          <a:lstStyle/>
          <a:p>
            <a:pPr algn="just">
              <a:lnSpc>
                <a:spcPts val="3118"/>
              </a:lnSpc>
            </a:pPr>
            <a:r>
              <a:rPr lang="en-US" sz="2620">
                <a:solidFill>
                  <a:srgbClr val="000000"/>
                </a:solidFill>
                <a:latin typeface="Codec Pro"/>
                <a:ea typeface="Codec Pro"/>
                <a:cs typeface="Codec Pro"/>
                <a:sym typeface="Codec Pro"/>
              </a:rPr>
              <a:t>Key Findings</a:t>
            </a:r>
          </a:p>
          <a:p>
            <a:pPr marL="565721" lvl="1" indent="-282860" algn="just">
              <a:lnSpc>
                <a:spcPts val="3118"/>
              </a:lnSpc>
              <a:buFont typeface="Arial"/>
              <a:buChar char="•"/>
            </a:pPr>
            <a:r>
              <a:rPr lang="en-US" sz="2620">
                <a:solidFill>
                  <a:srgbClr val="000000"/>
                </a:solidFill>
                <a:latin typeface="Codec Pro"/>
                <a:ea typeface="Codec Pro"/>
                <a:cs typeface="Codec Pro"/>
                <a:sym typeface="Codec Pro"/>
              </a:rPr>
              <a:t>Highest activity on Saturday (9,871 steps)</a:t>
            </a:r>
          </a:p>
          <a:p>
            <a:pPr marL="565721" lvl="1" indent="-282860" algn="just">
              <a:lnSpc>
                <a:spcPts val="3118"/>
              </a:lnSpc>
              <a:buFont typeface="Arial"/>
              <a:buChar char="•"/>
            </a:pPr>
            <a:r>
              <a:rPr lang="en-US" sz="2620">
                <a:solidFill>
                  <a:srgbClr val="000000"/>
                </a:solidFill>
                <a:latin typeface="Codec Pro"/>
                <a:ea typeface="Codec Pro"/>
                <a:cs typeface="Codec Pro"/>
                <a:sym typeface="Codec Pro"/>
              </a:rPr>
              <a:t>Highest sleep duration on Sunday (7.55 hrs)</a:t>
            </a:r>
          </a:p>
          <a:p>
            <a:pPr marL="565721" lvl="1" indent="-282860" algn="just">
              <a:lnSpc>
                <a:spcPts val="3118"/>
              </a:lnSpc>
              <a:buFont typeface="Arial"/>
              <a:buChar char="•"/>
            </a:pPr>
            <a:r>
              <a:rPr lang="en-US" sz="2620">
                <a:solidFill>
                  <a:srgbClr val="000000"/>
                </a:solidFill>
                <a:latin typeface="Codec Pro"/>
                <a:ea typeface="Codec Pro"/>
                <a:cs typeface="Codec Pro"/>
                <a:sym typeface="Codec Pro"/>
              </a:rPr>
              <a:t>Weekend sleep increases by ~23 minutes</a:t>
            </a:r>
          </a:p>
          <a:p>
            <a:pPr marL="0" lvl="0" indent="0" algn="just">
              <a:lnSpc>
                <a:spcPts val="3118"/>
              </a:lnSpc>
            </a:pPr>
            <a:endParaRPr lang="en-US" sz="2620">
              <a:solidFill>
                <a:srgbClr val="000000"/>
              </a:solidFill>
              <a:latin typeface="Codec Pro"/>
              <a:ea typeface="Codec Pro"/>
              <a:cs typeface="Codec Pro"/>
              <a:sym typeface="Codec Pro"/>
            </a:endParaRPr>
          </a:p>
        </p:txBody>
      </p:sp>
      <p:sp>
        <p:nvSpPr>
          <p:cNvPr id="9" name="TextBox 9"/>
          <p:cNvSpPr txBox="1"/>
          <p:nvPr/>
        </p:nvSpPr>
        <p:spPr>
          <a:xfrm>
            <a:off x="3562695" y="1823561"/>
            <a:ext cx="10130371" cy="673572"/>
          </a:xfrm>
          <a:prstGeom prst="rect">
            <a:avLst/>
          </a:prstGeom>
        </p:spPr>
        <p:txBody>
          <a:bodyPr lIns="0" tIns="0" rIns="0" bIns="0" rtlCol="0" anchor="t">
            <a:spAutoFit/>
          </a:bodyPr>
          <a:lstStyle/>
          <a:p>
            <a:pPr marL="0" lvl="0" indent="0" algn="l">
              <a:lnSpc>
                <a:spcPts val="5049"/>
              </a:lnSpc>
            </a:pPr>
            <a:r>
              <a:rPr lang="en-US" sz="5314" b="1">
                <a:solidFill>
                  <a:srgbClr val="000000"/>
                </a:solidFill>
                <a:latin typeface="Montaser Arabic Bold"/>
                <a:ea typeface="Montaser Arabic Bold"/>
                <a:cs typeface="Montaser Arabic Bold"/>
                <a:sym typeface="Montaser Arabic Bold"/>
              </a:rPr>
              <a:t>Weekly behaviour analysis </a:t>
            </a:r>
          </a:p>
        </p:txBody>
      </p:sp>
      <p:sp>
        <p:nvSpPr>
          <p:cNvPr id="10" name="TextBox 10"/>
          <p:cNvSpPr txBox="1"/>
          <p:nvPr/>
        </p:nvSpPr>
        <p:spPr>
          <a:xfrm>
            <a:off x="1739569" y="1743817"/>
            <a:ext cx="1036418" cy="862925"/>
          </a:xfrm>
          <a:prstGeom prst="rect">
            <a:avLst/>
          </a:prstGeom>
        </p:spPr>
        <p:txBody>
          <a:bodyPr lIns="0" tIns="0" rIns="0" bIns="0" rtlCol="0" anchor="t">
            <a:spAutoFit/>
          </a:bodyPr>
          <a:lstStyle/>
          <a:p>
            <a:pPr marL="0" lvl="0" indent="0" algn="ctr">
              <a:lnSpc>
                <a:spcPts val="6439"/>
              </a:lnSpc>
            </a:pPr>
            <a:r>
              <a:rPr lang="en-US" sz="6778" b="1" dirty="0">
                <a:latin typeface="Montaser Arabic Bold"/>
                <a:ea typeface="Montaser Arabic Bold"/>
                <a:cs typeface="Montaser Arabic Bold"/>
                <a:sym typeface="Montaser Arabic Bold"/>
              </a:rPr>
              <a:t>5</a:t>
            </a:r>
          </a:p>
        </p:txBody>
      </p:sp>
      <p:sp>
        <p:nvSpPr>
          <p:cNvPr id="11" name="TextBox 11"/>
          <p:cNvSpPr txBox="1"/>
          <p:nvPr/>
        </p:nvSpPr>
        <p:spPr>
          <a:xfrm>
            <a:off x="1739569" y="5878588"/>
            <a:ext cx="6040920" cy="1536650"/>
          </a:xfrm>
          <a:prstGeom prst="rect">
            <a:avLst/>
          </a:prstGeom>
        </p:spPr>
        <p:txBody>
          <a:bodyPr lIns="0" tIns="0" rIns="0" bIns="0" rtlCol="0" anchor="t">
            <a:spAutoFit/>
          </a:bodyPr>
          <a:lstStyle/>
          <a:p>
            <a:pPr algn="just">
              <a:lnSpc>
                <a:spcPts val="2928"/>
              </a:lnSpc>
            </a:pPr>
            <a:r>
              <a:rPr lang="en-US" sz="2460">
                <a:solidFill>
                  <a:srgbClr val="000000"/>
                </a:solidFill>
                <a:latin typeface="Codec Pro"/>
                <a:ea typeface="Codec Pro"/>
                <a:cs typeface="Codec Pro"/>
                <a:sym typeface="Codec Pro"/>
              </a:rPr>
              <a:t>Insight</a:t>
            </a:r>
          </a:p>
          <a:p>
            <a:pPr algn="just">
              <a:lnSpc>
                <a:spcPts val="2928"/>
              </a:lnSpc>
            </a:pPr>
            <a:r>
              <a:rPr lang="en-US" sz="2460">
                <a:solidFill>
                  <a:srgbClr val="000000"/>
                </a:solidFill>
                <a:latin typeface="Codec Pro"/>
                <a:ea typeface="Codec Pro"/>
                <a:cs typeface="Codec Pro"/>
                <a:sym typeface="Codec Pro"/>
              </a:rPr>
              <a:t>Users demonstrate a clear weekend recovery pattern.</a:t>
            </a:r>
          </a:p>
          <a:p>
            <a:pPr marL="0" lvl="0" indent="0" algn="just">
              <a:lnSpc>
                <a:spcPts val="2928"/>
              </a:lnSpc>
            </a:pPr>
            <a:endParaRPr lang="en-US" sz="2460">
              <a:solidFill>
                <a:srgbClr val="000000"/>
              </a:solidFill>
              <a:latin typeface="Codec Pro"/>
              <a:ea typeface="Codec Pro"/>
              <a:cs typeface="Codec Pro"/>
              <a:sym typeface="Codec Pr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669579" y="385084"/>
            <a:ext cx="12589721" cy="2311931"/>
          </a:xfrm>
          <a:custGeom>
            <a:avLst/>
            <a:gdLst/>
            <a:ahLst/>
            <a:cxnLst/>
            <a:rect l="l" t="t" r="r" b="b"/>
            <a:pathLst>
              <a:path w="12589721" h="2311931">
                <a:moveTo>
                  <a:pt x="0" y="0"/>
                </a:moveTo>
                <a:lnTo>
                  <a:pt x="12589721" y="0"/>
                </a:lnTo>
                <a:lnTo>
                  <a:pt x="12589721" y="2311931"/>
                </a:lnTo>
                <a:lnTo>
                  <a:pt x="0" y="231193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a:off x="796601" y="814030"/>
            <a:ext cx="3422986" cy="1882984"/>
          </a:xfrm>
          <a:custGeom>
            <a:avLst/>
            <a:gdLst/>
            <a:ahLst/>
            <a:cxnLst/>
            <a:rect l="l" t="t" r="r" b="b"/>
            <a:pathLst>
              <a:path w="3422986" h="1882984">
                <a:moveTo>
                  <a:pt x="0" y="0"/>
                </a:moveTo>
                <a:lnTo>
                  <a:pt x="3422986" y="0"/>
                </a:lnTo>
                <a:lnTo>
                  <a:pt x="3422986" y="1882985"/>
                </a:lnTo>
                <a:lnTo>
                  <a:pt x="0" y="1882985"/>
                </a:lnTo>
                <a:lnTo>
                  <a:pt x="0" y="0"/>
                </a:lnTo>
                <a:close/>
              </a:path>
            </a:pathLst>
          </a:custGeom>
          <a:blipFill>
            <a:blip r:embed="rId3"/>
            <a:stretch>
              <a:fillRect t="-740" b="-740"/>
            </a:stretch>
          </a:blipFill>
        </p:spPr>
        <p:txBody>
          <a:bodyPr/>
          <a:lstStyle/>
          <a:p>
            <a:endParaRPr lang="en-IN"/>
          </a:p>
        </p:txBody>
      </p:sp>
      <p:sp>
        <p:nvSpPr>
          <p:cNvPr id="5" name="Freeform 5"/>
          <p:cNvSpPr/>
          <p:nvPr/>
        </p:nvSpPr>
        <p:spPr>
          <a:xfrm>
            <a:off x="274367" y="3200505"/>
            <a:ext cx="8084549" cy="7086495"/>
          </a:xfrm>
          <a:custGeom>
            <a:avLst/>
            <a:gdLst/>
            <a:ahLst/>
            <a:cxnLst/>
            <a:rect l="l" t="t" r="r" b="b"/>
            <a:pathLst>
              <a:path w="7890438" h="5423774">
                <a:moveTo>
                  <a:pt x="0" y="0"/>
                </a:moveTo>
                <a:lnTo>
                  <a:pt x="7890437" y="0"/>
                </a:lnTo>
                <a:lnTo>
                  <a:pt x="7890437" y="5423774"/>
                </a:lnTo>
                <a:lnTo>
                  <a:pt x="0" y="5423774"/>
                </a:lnTo>
                <a:lnTo>
                  <a:pt x="0" y="0"/>
                </a:lnTo>
                <a:close/>
              </a:path>
            </a:pathLst>
          </a:custGeom>
          <a:blipFill>
            <a:blip r:embed="rId4"/>
            <a:stretch>
              <a:fillRect/>
            </a:stretch>
          </a:blipFill>
        </p:spPr>
        <p:txBody>
          <a:bodyPr/>
          <a:lstStyle/>
          <a:p>
            <a:endParaRPr lang="en-IN"/>
          </a:p>
        </p:txBody>
      </p:sp>
      <p:sp>
        <p:nvSpPr>
          <p:cNvPr id="6" name="TextBox 6"/>
          <p:cNvSpPr txBox="1"/>
          <p:nvPr/>
        </p:nvSpPr>
        <p:spPr>
          <a:xfrm>
            <a:off x="7715767" y="888575"/>
            <a:ext cx="8394695" cy="1438299"/>
          </a:xfrm>
          <a:prstGeom prst="rect">
            <a:avLst/>
          </a:prstGeom>
        </p:spPr>
        <p:txBody>
          <a:bodyPr lIns="0" tIns="0" rIns="0" bIns="0" rtlCol="0" anchor="t">
            <a:spAutoFit/>
          </a:bodyPr>
          <a:lstStyle/>
          <a:p>
            <a:pPr marL="0" lvl="0" indent="0" algn="l">
              <a:lnSpc>
                <a:spcPts val="5481"/>
              </a:lnSpc>
            </a:pPr>
            <a:r>
              <a:rPr lang="en-US" sz="5770" b="1">
                <a:solidFill>
                  <a:srgbClr val="000000"/>
                </a:solidFill>
                <a:latin typeface="Montaser Arabic Bold"/>
                <a:ea typeface="Montaser Arabic Bold"/>
                <a:cs typeface="Montaser Arabic Bold"/>
                <a:sym typeface="Montaser Arabic Bold"/>
              </a:rPr>
              <a:t>Activity &amp; Sleep Relationship</a:t>
            </a:r>
          </a:p>
        </p:txBody>
      </p:sp>
      <p:sp>
        <p:nvSpPr>
          <p:cNvPr id="7" name="TextBox 7"/>
          <p:cNvSpPr txBox="1"/>
          <p:nvPr/>
        </p:nvSpPr>
        <p:spPr>
          <a:xfrm>
            <a:off x="5380448" y="1258950"/>
            <a:ext cx="1036418" cy="862925"/>
          </a:xfrm>
          <a:prstGeom prst="rect">
            <a:avLst/>
          </a:prstGeom>
        </p:spPr>
        <p:txBody>
          <a:bodyPr lIns="0" tIns="0" rIns="0" bIns="0" rtlCol="0" anchor="t">
            <a:spAutoFit/>
          </a:bodyPr>
          <a:lstStyle/>
          <a:p>
            <a:pPr marL="0" lvl="0" indent="0" algn="ctr">
              <a:lnSpc>
                <a:spcPts val="6439"/>
              </a:lnSpc>
            </a:pPr>
            <a:r>
              <a:rPr lang="en-US" sz="6778" b="1">
                <a:solidFill>
                  <a:srgbClr val="000000"/>
                </a:solidFill>
                <a:latin typeface="Montaser Arabic Bold"/>
                <a:ea typeface="Montaser Arabic Bold"/>
                <a:cs typeface="Montaser Arabic Bold"/>
                <a:sym typeface="Montaser Arabic Bold"/>
              </a:rPr>
              <a:t>6</a:t>
            </a:r>
          </a:p>
        </p:txBody>
      </p:sp>
      <p:sp>
        <p:nvSpPr>
          <p:cNvPr id="8" name="TextBox 8"/>
          <p:cNvSpPr txBox="1"/>
          <p:nvPr/>
        </p:nvSpPr>
        <p:spPr>
          <a:xfrm>
            <a:off x="8558942" y="3103924"/>
            <a:ext cx="9968730" cy="2270121"/>
          </a:xfrm>
          <a:prstGeom prst="rect">
            <a:avLst/>
          </a:prstGeom>
        </p:spPr>
        <p:txBody>
          <a:bodyPr lIns="0" tIns="0" rIns="0" bIns="0" rtlCol="0" anchor="t">
            <a:spAutoFit/>
          </a:bodyPr>
          <a:lstStyle/>
          <a:p>
            <a:pPr algn="l">
              <a:lnSpc>
                <a:spcPts val="2971"/>
              </a:lnSpc>
            </a:pPr>
            <a:r>
              <a:rPr lang="en-US" sz="2496">
                <a:solidFill>
                  <a:srgbClr val="000000"/>
                </a:solidFill>
                <a:latin typeface="Codec Pro"/>
                <a:ea typeface="Codec Pro"/>
                <a:cs typeface="Codec Pro"/>
                <a:sym typeface="Codec Pro"/>
              </a:rPr>
              <a:t>Key Findings</a:t>
            </a:r>
          </a:p>
          <a:p>
            <a:pPr marL="539052" lvl="1" indent="-269526" algn="l">
              <a:lnSpc>
                <a:spcPts val="2971"/>
              </a:lnSpc>
              <a:buFont typeface="Arial"/>
              <a:buChar char="•"/>
            </a:pPr>
            <a:r>
              <a:rPr lang="en-US" sz="2496">
                <a:solidFill>
                  <a:srgbClr val="000000"/>
                </a:solidFill>
                <a:latin typeface="Codec Pro"/>
                <a:ea typeface="Codec Pro"/>
                <a:cs typeface="Codec Pro"/>
                <a:sym typeface="Codec Pro"/>
              </a:rPr>
              <a:t>Correlation between sedentary hours and sleep duration:</a:t>
            </a:r>
          </a:p>
          <a:p>
            <a:pPr marL="539052" lvl="1" indent="-269526" algn="l">
              <a:lnSpc>
                <a:spcPts val="2971"/>
              </a:lnSpc>
              <a:buFont typeface="Arial"/>
              <a:buChar char="•"/>
            </a:pPr>
            <a:r>
              <a:rPr lang="en-US" sz="2496">
                <a:solidFill>
                  <a:srgbClr val="000000"/>
                </a:solidFill>
                <a:latin typeface="Codec Pro"/>
                <a:ea typeface="Codec Pro"/>
                <a:cs typeface="Codec Pro"/>
                <a:sym typeface="Codec Pro"/>
              </a:rPr>
              <a:t>r = -0.61</a:t>
            </a:r>
          </a:p>
          <a:p>
            <a:pPr marL="539052" lvl="1" indent="-269526" algn="l">
              <a:lnSpc>
                <a:spcPts val="2971"/>
              </a:lnSpc>
              <a:buFont typeface="Arial"/>
              <a:buChar char="•"/>
            </a:pPr>
            <a:r>
              <a:rPr lang="en-US" sz="2496">
                <a:solidFill>
                  <a:srgbClr val="000000"/>
                </a:solidFill>
                <a:latin typeface="Codec Pro"/>
                <a:ea typeface="Codec Pro"/>
                <a:cs typeface="Codec Pro"/>
                <a:sym typeface="Codec Pro"/>
              </a:rPr>
              <a:t>Higher sedentary time is associated with shorter sleep duration</a:t>
            </a:r>
          </a:p>
          <a:p>
            <a:pPr marL="0" lvl="0" indent="0" algn="l">
              <a:lnSpc>
                <a:spcPts val="2971"/>
              </a:lnSpc>
            </a:pPr>
            <a:endParaRPr lang="en-US" sz="2496">
              <a:solidFill>
                <a:srgbClr val="000000"/>
              </a:solidFill>
              <a:latin typeface="Codec Pro"/>
              <a:ea typeface="Codec Pro"/>
              <a:cs typeface="Codec Pro"/>
              <a:sym typeface="Codec Pro"/>
            </a:endParaRPr>
          </a:p>
        </p:txBody>
      </p:sp>
      <p:sp>
        <p:nvSpPr>
          <p:cNvPr id="9" name="TextBox 9"/>
          <p:cNvSpPr txBox="1"/>
          <p:nvPr/>
        </p:nvSpPr>
        <p:spPr>
          <a:xfrm>
            <a:off x="8758967" y="5105400"/>
            <a:ext cx="9968730" cy="1527171"/>
          </a:xfrm>
          <a:prstGeom prst="rect">
            <a:avLst/>
          </a:prstGeom>
        </p:spPr>
        <p:txBody>
          <a:bodyPr lIns="0" tIns="0" rIns="0" bIns="0" rtlCol="0" anchor="t">
            <a:spAutoFit/>
          </a:bodyPr>
          <a:lstStyle/>
          <a:p>
            <a:pPr algn="l">
              <a:lnSpc>
                <a:spcPts val="2971"/>
              </a:lnSpc>
            </a:pPr>
            <a:r>
              <a:rPr lang="en-US" sz="2496">
                <a:solidFill>
                  <a:srgbClr val="066380"/>
                </a:solidFill>
                <a:latin typeface="Codec Pro"/>
                <a:ea typeface="Codec Pro"/>
                <a:cs typeface="Codec Pro"/>
                <a:sym typeface="Codec Pro"/>
              </a:rPr>
              <a:t>I</a:t>
            </a:r>
            <a:r>
              <a:rPr lang="en-US" sz="2496">
                <a:solidFill>
                  <a:srgbClr val="000000"/>
                </a:solidFill>
                <a:latin typeface="Codec Pro"/>
                <a:ea typeface="Codec Pro"/>
                <a:cs typeface="Codec Pro"/>
                <a:sym typeface="Codec Pro"/>
              </a:rPr>
              <a:t>nsight</a:t>
            </a:r>
          </a:p>
          <a:p>
            <a:pPr algn="l">
              <a:lnSpc>
                <a:spcPts val="2971"/>
              </a:lnSpc>
            </a:pPr>
            <a:r>
              <a:rPr lang="en-US" sz="2496">
                <a:solidFill>
                  <a:srgbClr val="000000"/>
                </a:solidFill>
                <a:latin typeface="Codec Pro"/>
                <a:ea typeface="Codec Pro"/>
                <a:cs typeface="Codec Pro"/>
                <a:sym typeface="Codec Pro"/>
              </a:rPr>
              <a:t>Sedentary behavior is the strongest sleep-related factor identified.</a:t>
            </a:r>
          </a:p>
          <a:p>
            <a:pPr marL="0" lvl="0" indent="0" algn="l">
              <a:lnSpc>
                <a:spcPts val="2971"/>
              </a:lnSpc>
            </a:pPr>
            <a:endParaRPr lang="en-US" sz="2496">
              <a:solidFill>
                <a:srgbClr val="000000"/>
              </a:solidFill>
              <a:latin typeface="Codec Pro"/>
              <a:ea typeface="Codec Pro"/>
              <a:cs typeface="Codec Pro"/>
              <a:sym typeface="Codec Pr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669579" y="1028700"/>
            <a:ext cx="12589721" cy="2311931"/>
          </a:xfrm>
          <a:custGeom>
            <a:avLst/>
            <a:gdLst/>
            <a:ahLst/>
            <a:cxnLst/>
            <a:rect l="l" t="t" r="r" b="b"/>
            <a:pathLst>
              <a:path w="12589721" h="2311931">
                <a:moveTo>
                  <a:pt x="0" y="0"/>
                </a:moveTo>
                <a:lnTo>
                  <a:pt x="12589721" y="0"/>
                </a:lnTo>
                <a:lnTo>
                  <a:pt x="12589721" y="2311931"/>
                </a:lnTo>
                <a:lnTo>
                  <a:pt x="0" y="231193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1755829" y="1151765"/>
            <a:ext cx="2206864" cy="2168945"/>
          </a:xfrm>
          <a:custGeom>
            <a:avLst/>
            <a:gdLst/>
            <a:ahLst/>
            <a:cxnLst/>
            <a:rect l="l" t="t" r="r" b="b"/>
            <a:pathLst>
              <a:path w="2206864" h="2168945">
                <a:moveTo>
                  <a:pt x="0" y="0"/>
                </a:moveTo>
                <a:lnTo>
                  <a:pt x="2206864" y="0"/>
                </a:lnTo>
                <a:lnTo>
                  <a:pt x="2206864" y="2168945"/>
                </a:lnTo>
                <a:lnTo>
                  <a:pt x="0" y="2168945"/>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7566477" y="1729558"/>
            <a:ext cx="9140721" cy="807915"/>
          </a:xfrm>
          <a:prstGeom prst="rect">
            <a:avLst/>
          </a:prstGeom>
        </p:spPr>
        <p:txBody>
          <a:bodyPr lIns="0" tIns="0" rIns="0" bIns="0" rtlCol="0" anchor="t">
            <a:spAutoFit/>
          </a:bodyPr>
          <a:lstStyle/>
          <a:p>
            <a:pPr marL="0" lvl="0" indent="0" algn="l">
              <a:lnSpc>
                <a:spcPts val="5933"/>
              </a:lnSpc>
            </a:pPr>
            <a:r>
              <a:rPr lang="en-US" sz="6246">
                <a:solidFill>
                  <a:srgbClr val="000000"/>
                </a:solidFill>
                <a:latin typeface="Montaser Arabic"/>
                <a:ea typeface="Montaser Arabic"/>
                <a:cs typeface="Montaser Arabic"/>
                <a:sym typeface="Montaser Arabic"/>
              </a:rPr>
              <a:t>Key Insights</a:t>
            </a:r>
          </a:p>
        </p:txBody>
      </p:sp>
      <p:sp>
        <p:nvSpPr>
          <p:cNvPr id="5" name="TextBox 5"/>
          <p:cNvSpPr txBox="1"/>
          <p:nvPr/>
        </p:nvSpPr>
        <p:spPr>
          <a:xfrm>
            <a:off x="5380448" y="1815039"/>
            <a:ext cx="1036418" cy="765338"/>
          </a:xfrm>
          <a:prstGeom prst="rect">
            <a:avLst/>
          </a:prstGeom>
        </p:spPr>
        <p:txBody>
          <a:bodyPr lIns="0" tIns="0" rIns="0" bIns="0" rtlCol="0" anchor="t">
            <a:spAutoFit/>
          </a:bodyPr>
          <a:lstStyle/>
          <a:p>
            <a:pPr marL="0" lvl="0" indent="0" algn="ctr">
              <a:lnSpc>
                <a:spcPts val="5933"/>
              </a:lnSpc>
            </a:pPr>
            <a:r>
              <a:rPr lang="en-US" sz="6246" dirty="0">
                <a:solidFill>
                  <a:srgbClr val="000000"/>
                </a:solidFill>
                <a:latin typeface="Montaser Arabic"/>
                <a:ea typeface="Montaser Arabic"/>
                <a:cs typeface="Montaser Arabic"/>
                <a:sym typeface="Montaser Arabic"/>
              </a:rPr>
              <a:t>7</a:t>
            </a:r>
          </a:p>
        </p:txBody>
      </p:sp>
      <p:sp>
        <p:nvSpPr>
          <p:cNvPr id="6" name="TextBox 6"/>
          <p:cNvSpPr txBox="1"/>
          <p:nvPr/>
        </p:nvSpPr>
        <p:spPr>
          <a:xfrm>
            <a:off x="3143384" y="3777148"/>
            <a:ext cx="15144616" cy="6058015"/>
          </a:xfrm>
          <a:prstGeom prst="rect">
            <a:avLst/>
          </a:prstGeom>
        </p:spPr>
        <p:txBody>
          <a:bodyPr lIns="0" tIns="0" rIns="0" bIns="0" rtlCol="0" anchor="t">
            <a:spAutoFit/>
          </a:bodyPr>
          <a:lstStyle/>
          <a:p>
            <a:pPr algn="l">
              <a:lnSpc>
                <a:spcPts val="3994"/>
              </a:lnSpc>
            </a:pPr>
            <a:r>
              <a:rPr lang="en-US" sz="3356">
                <a:solidFill>
                  <a:srgbClr val="000000"/>
                </a:solidFill>
                <a:latin typeface="Codec Pro"/>
                <a:ea typeface="Codec Pro"/>
                <a:cs typeface="Codec Pro"/>
                <a:sym typeface="Codec Pro"/>
              </a:rPr>
              <a:t>Insight 1</a:t>
            </a:r>
          </a:p>
          <a:p>
            <a:pPr algn="l">
              <a:lnSpc>
                <a:spcPts val="3994"/>
              </a:lnSpc>
            </a:pPr>
            <a:r>
              <a:rPr lang="en-US" sz="3356">
                <a:solidFill>
                  <a:srgbClr val="000000"/>
                </a:solidFill>
                <a:latin typeface="Codec Pro"/>
                <a:ea typeface="Codec Pro"/>
                <a:cs typeface="Codec Pro"/>
                <a:sym typeface="Codec Pro"/>
              </a:rPr>
              <a:t>76.58% of observations belong to moderately or highly active users.</a:t>
            </a:r>
          </a:p>
          <a:p>
            <a:pPr algn="l">
              <a:lnSpc>
                <a:spcPts val="3994"/>
              </a:lnSpc>
            </a:pPr>
            <a:endParaRPr lang="en-US" sz="3356">
              <a:solidFill>
                <a:srgbClr val="000000"/>
              </a:solidFill>
              <a:latin typeface="Codec Pro"/>
              <a:ea typeface="Codec Pro"/>
              <a:cs typeface="Codec Pro"/>
              <a:sym typeface="Codec Pro"/>
            </a:endParaRPr>
          </a:p>
          <a:p>
            <a:pPr algn="l">
              <a:lnSpc>
                <a:spcPts val="3994"/>
              </a:lnSpc>
            </a:pPr>
            <a:r>
              <a:rPr lang="en-US" sz="3356">
                <a:solidFill>
                  <a:srgbClr val="000000"/>
                </a:solidFill>
                <a:latin typeface="Codec Pro"/>
                <a:ea typeface="Codec Pro"/>
                <a:cs typeface="Codec Pro"/>
                <a:sym typeface="Codec Pro"/>
              </a:rPr>
              <a:t>Insight 2</a:t>
            </a:r>
          </a:p>
          <a:p>
            <a:pPr algn="l">
              <a:lnSpc>
                <a:spcPts val="3994"/>
              </a:lnSpc>
            </a:pPr>
            <a:r>
              <a:rPr lang="en-US" sz="3356">
                <a:solidFill>
                  <a:srgbClr val="000000"/>
                </a:solidFill>
                <a:latin typeface="Codec Pro"/>
                <a:ea typeface="Codec Pro"/>
                <a:cs typeface="Codec Pro"/>
                <a:sym typeface="Codec Pro"/>
              </a:rPr>
              <a:t>Users follow a consistent weekend recovery pattern.</a:t>
            </a:r>
          </a:p>
          <a:p>
            <a:pPr algn="l">
              <a:lnSpc>
                <a:spcPts val="3994"/>
              </a:lnSpc>
            </a:pPr>
            <a:endParaRPr lang="en-US" sz="3356">
              <a:solidFill>
                <a:srgbClr val="000000"/>
              </a:solidFill>
              <a:latin typeface="Codec Pro"/>
              <a:ea typeface="Codec Pro"/>
              <a:cs typeface="Codec Pro"/>
              <a:sym typeface="Codec Pro"/>
            </a:endParaRPr>
          </a:p>
          <a:p>
            <a:pPr algn="l">
              <a:lnSpc>
                <a:spcPts val="3994"/>
              </a:lnSpc>
            </a:pPr>
            <a:r>
              <a:rPr lang="en-US" sz="3356">
                <a:solidFill>
                  <a:srgbClr val="000000"/>
                </a:solidFill>
                <a:latin typeface="Codec Pro"/>
                <a:ea typeface="Codec Pro"/>
                <a:cs typeface="Codec Pro"/>
                <a:sym typeface="Codec Pro"/>
              </a:rPr>
              <a:t>Insight 3</a:t>
            </a:r>
          </a:p>
          <a:p>
            <a:pPr algn="l">
              <a:lnSpc>
                <a:spcPts val="3994"/>
              </a:lnSpc>
            </a:pPr>
            <a:r>
              <a:rPr lang="en-US" sz="3356">
                <a:solidFill>
                  <a:srgbClr val="000000"/>
                </a:solidFill>
                <a:latin typeface="Codec Pro"/>
                <a:ea typeface="Codec Pro"/>
                <a:cs typeface="Codec Pro"/>
                <a:sym typeface="Codec Pro"/>
              </a:rPr>
              <a:t>Sedentary behavior has the strongest relationship with sleep duration.</a:t>
            </a:r>
          </a:p>
          <a:p>
            <a:pPr algn="l">
              <a:lnSpc>
                <a:spcPts val="3994"/>
              </a:lnSpc>
            </a:pPr>
            <a:endParaRPr lang="en-US" sz="3356">
              <a:solidFill>
                <a:srgbClr val="000000"/>
              </a:solidFill>
              <a:latin typeface="Codec Pro"/>
              <a:ea typeface="Codec Pro"/>
              <a:cs typeface="Codec Pro"/>
              <a:sym typeface="Codec Pro"/>
            </a:endParaRPr>
          </a:p>
          <a:p>
            <a:pPr algn="l">
              <a:lnSpc>
                <a:spcPts val="3994"/>
              </a:lnSpc>
            </a:pPr>
            <a:r>
              <a:rPr lang="en-US" sz="3356">
                <a:solidFill>
                  <a:srgbClr val="000000"/>
                </a:solidFill>
                <a:latin typeface="Codec Pro"/>
                <a:ea typeface="Codec Pro"/>
                <a:cs typeface="Codec Pro"/>
                <a:sym typeface="Codec Pro"/>
              </a:rPr>
              <a:t>Insight 4</a:t>
            </a:r>
          </a:p>
          <a:p>
            <a:pPr algn="l">
              <a:lnSpc>
                <a:spcPts val="3994"/>
              </a:lnSpc>
            </a:pPr>
            <a:r>
              <a:rPr lang="en-US" sz="3356">
                <a:solidFill>
                  <a:srgbClr val="000000"/>
                </a:solidFill>
                <a:latin typeface="Codec Pro"/>
                <a:ea typeface="Codec Pro"/>
                <a:cs typeface="Codec Pro"/>
                <a:sym typeface="Codec Pro"/>
              </a:rPr>
              <a:t>Average sleep duration is 6.99 hours, slightly below the recommended level.</a:t>
            </a:r>
          </a:p>
          <a:p>
            <a:pPr marL="0" lvl="0" indent="0" algn="l">
              <a:lnSpc>
                <a:spcPts val="3994"/>
              </a:lnSpc>
            </a:pPr>
            <a:endParaRPr lang="en-US" sz="3356">
              <a:solidFill>
                <a:srgbClr val="000000"/>
              </a:solidFill>
              <a:latin typeface="Codec Pro"/>
              <a:ea typeface="Codec Pro"/>
              <a:cs typeface="Codec Pro"/>
              <a:sym typeface="Codec Pr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669579" y="1028700"/>
            <a:ext cx="12589721" cy="2311931"/>
          </a:xfrm>
          <a:custGeom>
            <a:avLst/>
            <a:gdLst/>
            <a:ahLst/>
            <a:cxnLst/>
            <a:rect l="l" t="t" r="r" b="b"/>
            <a:pathLst>
              <a:path w="12589721" h="2311931">
                <a:moveTo>
                  <a:pt x="0" y="0"/>
                </a:moveTo>
                <a:lnTo>
                  <a:pt x="12589721" y="0"/>
                </a:lnTo>
                <a:lnTo>
                  <a:pt x="12589721" y="2311931"/>
                </a:lnTo>
                <a:lnTo>
                  <a:pt x="0" y="231193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dirty="0"/>
          </a:p>
        </p:txBody>
      </p:sp>
      <p:sp>
        <p:nvSpPr>
          <p:cNvPr id="3" name="Freeform 3"/>
          <p:cNvSpPr/>
          <p:nvPr/>
        </p:nvSpPr>
        <p:spPr>
          <a:xfrm>
            <a:off x="1755829" y="1151765"/>
            <a:ext cx="2206864" cy="2168945"/>
          </a:xfrm>
          <a:custGeom>
            <a:avLst/>
            <a:gdLst/>
            <a:ahLst/>
            <a:cxnLst/>
            <a:rect l="l" t="t" r="r" b="b"/>
            <a:pathLst>
              <a:path w="2206864" h="2168945">
                <a:moveTo>
                  <a:pt x="0" y="0"/>
                </a:moveTo>
                <a:lnTo>
                  <a:pt x="2206864" y="0"/>
                </a:lnTo>
                <a:lnTo>
                  <a:pt x="2206864" y="2168945"/>
                </a:lnTo>
                <a:lnTo>
                  <a:pt x="0" y="2168945"/>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4669579" y="3554303"/>
            <a:ext cx="8774918" cy="6558525"/>
          </a:xfrm>
          <a:prstGeom prst="rect">
            <a:avLst/>
          </a:prstGeom>
        </p:spPr>
        <p:txBody>
          <a:bodyPr lIns="0" tIns="0" rIns="0" bIns="0" rtlCol="0" anchor="t">
            <a:spAutoFit/>
          </a:bodyPr>
          <a:lstStyle/>
          <a:p>
            <a:pPr algn="l">
              <a:lnSpc>
                <a:spcPts val="3994"/>
              </a:lnSpc>
            </a:pPr>
            <a:r>
              <a:rPr lang="en-US" sz="3356">
                <a:solidFill>
                  <a:srgbClr val="000000"/>
                </a:solidFill>
                <a:latin typeface="Codec Pro"/>
                <a:ea typeface="Codec Pro"/>
                <a:cs typeface="Codec Pro"/>
                <a:sym typeface="Codec Pro"/>
              </a:rPr>
              <a:t>Reduce Sedentary Behavior</a:t>
            </a:r>
          </a:p>
          <a:p>
            <a:pPr marL="724772" lvl="1" indent="-362386" algn="l">
              <a:lnSpc>
                <a:spcPts val="3994"/>
              </a:lnSpc>
              <a:buFont typeface="Arial"/>
              <a:buChar char="•"/>
            </a:pPr>
            <a:r>
              <a:rPr lang="en-US" sz="3356">
                <a:solidFill>
                  <a:srgbClr val="000000"/>
                </a:solidFill>
                <a:latin typeface="Codec Pro"/>
                <a:ea typeface="Codec Pro"/>
                <a:cs typeface="Codec Pro"/>
                <a:sym typeface="Codec Pro"/>
              </a:rPr>
              <a:t> Inactivity alerts</a:t>
            </a:r>
          </a:p>
          <a:p>
            <a:pPr marL="724772" lvl="1" indent="-362386" algn="l">
              <a:lnSpc>
                <a:spcPts val="3994"/>
              </a:lnSpc>
              <a:buFont typeface="Arial"/>
              <a:buChar char="•"/>
            </a:pPr>
            <a:r>
              <a:rPr lang="en-US" sz="3356">
                <a:solidFill>
                  <a:srgbClr val="000000"/>
                </a:solidFill>
                <a:latin typeface="Codec Pro"/>
                <a:ea typeface="Codec Pro"/>
                <a:cs typeface="Codec Pro"/>
                <a:sym typeface="Codec Pro"/>
              </a:rPr>
              <a:t>Movement reminders</a:t>
            </a:r>
          </a:p>
          <a:p>
            <a:pPr marL="724772" lvl="1" indent="-362386" algn="l">
              <a:lnSpc>
                <a:spcPts val="3994"/>
              </a:lnSpc>
              <a:buFont typeface="Arial"/>
              <a:buChar char="•"/>
            </a:pPr>
            <a:r>
              <a:rPr lang="en-US" sz="3356">
                <a:solidFill>
                  <a:srgbClr val="000000"/>
                </a:solidFill>
                <a:latin typeface="Codec Pro"/>
                <a:ea typeface="Codec Pro"/>
                <a:cs typeface="Codec Pro"/>
                <a:sym typeface="Codec Pro"/>
              </a:rPr>
              <a:t>Daily movement goals</a:t>
            </a:r>
          </a:p>
          <a:p>
            <a:pPr algn="l">
              <a:lnSpc>
                <a:spcPts val="3994"/>
              </a:lnSpc>
            </a:pPr>
            <a:r>
              <a:rPr lang="en-US" sz="3356">
                <a:solidFill>
                  <a:srgbClr val="000000"/>
                </a:solidFill>
                <a:latin typeface="Codec Pro"/>
                <a:ea typeface="Codec Pro"/>
                <a:cs typeface="Codec Pro"/>
                <a:sym typeface="Codec Pro"/>
              </a:rPr>
              <a:t>Engage Low-Activity Users</a:t>
            </a:r>
          </a:p>
          <a:p>
            <a:pPr marL="724772" lvl="1" indent="-362386" algn="l">
              <a:lnSpc>
                <a:spcPts val="3994"/>
              </a:lnSpc>
              <a:buFont typeface="Arial"/>
              <a:buChar char="•"/>
            </a:pPr>
            <a:r>
              <a:rPr lang="en-US" sz="3356">
                <a:solidFill>
                  <a:srgbClr val="000000"/>
                </a:solidFill>
                <a:latin typeface="Codec Pro"/>
                <a:ea typeface="Codec Pro"/>
                <a:cs typeface="Codec Pro"/>
                <a:sym typeface="Codec Pro"/>
              </a:rPr>
              <a:t>Personalized challenges</a:t>
            </a:r>
          </a:p>
          <a:p>
            <a:pPr marL="724772" lvl="1" indent="-362386" algn="l">
              <a:lnSpc>
                <a:spcPts val="3994"/>
              </a:lnSpc>
              <a:buFont typeface="Arial"/>
              <a:buChar char="•"/>
            </a:pPr>
            <a:r>
              <a:rPr lang="en-US" sz="3356">
                <a:solidFill>
                  <a:srgbClr val="000000"/>
                </a:solidFill>
                <a:latin typeface="Codec Pro"/>
                <a:ea typeface="Codec Pro"/>
                <a:cs typeface="Codec Pro"/>
                <a:sym typeface="Codec Pro"/>
              </a:rPr>
              <a:t>Goal tracking</a:t>
            </a:r>
          </a:p>
          <a:p>
            <a:pPr marL="724772" lvl="1" indent="-362386" algn="l">
              <a:lnSpc>
                <a:spcPts val="3994"/>
              </a:lnSpc>
              <a:buFont typeface="Arial"/>
              <a:buChar char="•"/>
            </a:pPr>
            <a:r>
              <a:rPr lang="en-US" sz="3356">
                <a:solidFill>
                  <a:srgbClr val="000000"/>
                </a:solidFill>
                <a:latin typeface="Codec Pro"/>
                <a:ea typeface="Codec Pro"/>
                <a:cs typeface="Codec Pro"/>
                <a:sym typeface="Codec Pro"/>
              </a:rPr>
              <a:t>Motivational notifications</a:t>
            </a:r>
          </a:p>
          <a:p>
            <a:pPr algn="l">
              <a:lnSpc>
                <a:spcPts val="3994"/>
              </a:lnSpc>
            </a:pPr>
            <a:r>
              <a:rPr lang="en-US" sz="3356">
                <a:solidFill>
                  <a:srgbClr val="000000"/>
                </a:solidFill>
                <a:latin typeface="Codec Pro"/>
                <a:ea typeface="Codec Pro"/>
                <a:cs typeface="Codec Pro"/>
                <a:sym typeface="Codec Pro"/>
              </a:rPr>
              <a:t>Leverage Weekend Recovery</a:t>
            </a:r>
          </a:p>
          <a:p>
            <a:pPr marL="724772" lvl="1" indent="-362386" algn="l">
              <a:lnSpc>
                <a:spcPts val="3994"/>
              </a:lnSpc>
              <a:buFont typeface="Arial"/>
              <a:buChar char="•"/>
            </a:pPr>
            <a:r>
              <a:rPr lang="en-US" sz="3356">
                <a:solidFill>
                  <a:srgbClr val="000000"/>
                </a:solidFill>
                <a:latin typeface="Codec Pro"/>
                <a:ea typeface="Codec Pro"/>
                <a:cs typeface="Codec Pro"/>
                <a:sym typeface="Codec Pro"/>
              </a:rPr>
              <a:t>Weekend wellness insights</a:t>
            </a:r>
          </a:p>
          <a:p>
            <a:pPr marL="724772" lvl="1" indent="-362386" algn="l">
              <a:lnSpc>
                <a:spcPts val="3994"/>
              </a:lnSpc>
              <a:buFont typeface="Arial"/>
              <a:buChar char="•"/>
            </a:pPr>
            <a:r>
              <a:rPr lang="en-US" sz="3356">
                <a:solidFill>
                  <a:srgbClr val="000000"/>
                </a:solidFill>
                <a:latin typeface="Codec Pro"/>
                <a:ea typeface="Codec Pro"/>
                <a:cs typeface="Codec Pro"/>
                <a:sym typeface="Codec Pro"/>
              </a:rPr>
              <a:t>Sleep coaching</a:t>
            </a:r>
          </a:p>
          <a:p>
            <a:pPr marL="724772" lvl="1" indent="-362386" algn="l">
              <a:lnSpc>
                <a:spcPts val="3994"/>
              </a:lnSpc>
              <a:buFont typeface="Arial"/>
              <a:buChar char="•"/>
            </a:pPr>
            <a:r>
              <a:rPr lang="en-US" sz="3356">
                <a:solidFill>
                  <a:srgbClr val="000000"/>
                </a:solidFill>
                <a:latin typeface="Codec Pro"/>
                <a:ea typeface="Codec Pro"/>
                <a:cs typeface="Codec Pro"/>
                <a:sym typeface="Codec Pro"/>
              </a:rPr>
              <a:t>Recovery-focused recommendations</a:t>
            </a:r>
          </a:p>
          <a:p>
            <a:pPr marL="0" lvl="0" indent="0" algn="l">
              <a:lnSpc>
                <a:spcPts val="3994"/>
              </a:lnSpc>
            </a:pPr>
            <a:endParaRPr lang="en-US" sz="3356">
              <a:solidFill>
                <a:srgbClr val="000000"/>
              </a:solidFill>
              <a:latin typeface="Codec Pro"/>
              <a:ea typeface="Codec Pro"/>
              <a:cs typeface="Codec Pro"/>
              <a:sym typeface="Codec Pro"/>
            </a:endParaRPr>
          </a:p>
        </p:txBody>
      </p:sp>
      <p:sp>
        <p:nvSpPr>
          <p:cNvPr id="5" name="Freeform 5"/>
          <p:cNvSpPr/>
          <p:nvPr/>
        </p:nvSpPr>
        <p:spPr>
          <a:xfrm>
            <a:off x="13444497" y="4199088"/>
            <a:ext cx="2227871" cy="3713118"/>
          </a:xfrm>
          <a:custGeom>
            <a:avLst/>
            <a:gdLst/>
            <a:ahLst/>
            <a:cxnLst/>
            <a:rect l="l" t="t" r="r" b="b"/>
            <a:pathLst>
              <a:path w="2227871" h="3713118">
                <a:moveTo>
                  <a:pt x="0" y="0"/>
                </a:moveTo>
                <a:lnTo>
                  <a:pt x="2227871" y="0"/>
                </a:lnTo>
                <a:lnTo>
                  <a:pt x="2227871" y="3713117"/>
                </a:lnTo>
                <a:lnTo>
                  <a:pt x="0" y="3713117"/>
                </a:lnTo>
                <a:lnTo>
                  <a:pt x="0" y="0"/>
                </a:lnTo>
                <a:close/>
              </a:path>
            </a:pathLst>
          </a:custGeom>
          <a:blipFill>
            <a:blip r:embed="rId4"/>
            <a:stretch>
              <a:fillRect/>
            </a:stretch>
          </a:blipFill>
        </p:spPr>
        <p:txBody>
          <a:bodyPr/>
          <a:lstStyle/>
          <a:p>
            <a:endParaRPr lang="en-IN"/>
          </a:p>
        </p:txBody>
      </p:sp>
      <p:sp>
        <p:nvSpPr>
          <p:cNvPr id="6" name="TextBox 6"/>
          <p:cNvSpPr txBox="1"/>
          <p:nvPr/>
        </p:nvSpPr>
        <p:spPr>
          <a:xfrm>
            <a:off x="7566477" y="1729558"/>
            <a:ext cx="9140721" cy="807915"/>
          </a:xfrm>
          <a:prstGeom prst="rect">
            <a:avLst/>
          </a:prstGeom>
        </p:spPr>
        <p:txBody>
          <a:bodyPr lIns="0" tIns="0" rIns="0" bIns="0" rtlCol="0" anchor="t">
            <a:spAutoFit/>
          </a:bodyPr>
          <a:lstStyle/>
          <a:p>
            <a:pPr marL="0" lvl="0" indent="0" algn="l">
              <a:lnSpc>
                <a:spcPts val="5933"/>
              </a:lnSpc>
            </a:pPr>
            <a:r>
              <a:rPr lang="en-US" sz="6246">
                <a:solidFill>
                  <a:srgbClr val="000000"/>
                </a:solidFill>
                <a:latin typeface="Montaser Arabic"/>
                <a:ea typeface="Montaser Arabic"/>
                <a:cs typeface="Montaser Arabic"/>
                <a:sym typeface="Montaser Arabic"/>
              </a:rPr>
              <a:t>Recommendations</a:t>
            </a:r>
          </a:p>
        </p:txBody>
      </p:sp>
      <p:sp>
        <p:nvSpPr>
          <p:cNvPr id="7" name="TextBox 7"/>
          <p:cNvSpPr txBox="1"/>
          <p:nvPr/>
        </p:nvSpPr>
        <p:spPr>
          <a:xfrm>
            <a:off x="5380448" y="1815039"/>
            <a:ext cx="1036418" cy="765338"/>
          </a:xfrm>
          <a:prstGeom prst="rect">
            <a:avLst/>
          </a:prstGeom>
        </p:spPr>
        <p:txBody>
          <a:bodyPr lIns="0" tIns="0" rIns="0" bIns="0" rtlCol="0" anchor="t">
            <a:spAutoFit/>
          </a:bodyPr>
          <a:lstStyle/>
          <a:p>
            <a:pPr marL="0" lvl="0" indent="0" algn="ctr">
              <a:lnSpc>
                <a:spcPts val="5933"/>
              </a:lnSpc>
            </a:pPr>
            <a:r>
              <a:rPr lang="en-US" sz="6246" dirty="0">
                <a:solidFill>
                  <a:srgbClr val="000000"/>
                </a:solidFill>
                <a:latin typeface="Montaser Arabic"/>
                <a:ea typeface="Montaser Arabic"/>
                <a:cs typeface="Montaser Arabic"/>
                <a:sym typeface="Montaser Arabic"/>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938427"/>
            <a:ext cx="12589721" cy="2311931"/>
          </a:xfrm>
          <a:custGeom>
            <a:avLst/>
            <a:gdLst/>
            <a:ahLst/>
            <a:cxnLst/>
            <a:rect l="l" t="t" r="r" b="b"/>
            <a:pathLst>
              <a:path w="12589721" h="2311931">
                <a:moveTo>
                  <a:pt x="0" y="0"/>
                </a:moveTo>
                <a:lnTo>
                  <a:pt x="12589721" y="0"/>
                </a:lnTo>
                <a:lnTo>
                  <a:pt x="12589721" y="2311931"/>
                </a:lnTo>
                <a:lnTo>
                  <a:pt x="0" y="231193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 name="Group 3"/>
          <p:cNvGrpSpPr/>
          <p:nvPr/>
        </p:nvGrpSpPr>
        <p:grpSpPr>
          <a:xfrm>
            <a:off x="15609614" y="-824926"/>
            <a:ext cx="3299371" cy="11936852"/>
            <a:chOff x="0" y="0"/>
            <a:chExt cx="868970" cy="3143862"/>
          </a:xfrm>
        </p:grpSpPr>
        <p:sp>
          <p:nvSpPr>
            <p:cNvPr id="4" name="Freeform 4"/>
            <p:cNvSpPr/>
            <p:nvPr/>
          </p:nvSpPr>
          <p:spPr>
            <a:xfrm>
              <a:off x="0" y="0"/>
              <a:ext cx="868970" cy="3143862"/>
            </a:xfrm>
            <a:custGeom>
              <a:avLst/>
              <a:gdLst/>
              <a:ahLst/>
              <a:cxnLst/>
              <a:rect l="l" t="t" r="r" b="b"/>
              <a:pathLst>
                <a:path w="868970" h="3143862">
                  <a:moveTo>
                    <a:pt x="0" y="0"/>
                  </a:moveTo>
                  <a:lnTo>
                    <a:pt x="868970" y="0"/>
                  </a:lnTo>
                  <a:lnTo>
                    <a:pt x="868970" y="3143862"/>
                  </a:lnTo>
                  <a:lnTo>
                    <a:pt x="0" y="3143862"/>
                  </a:lnTo>
                  <a:close/>
                </a:path>
              </a:pathLst>
            </a:custGeom>
            <a:solidFill>
              <a:srgbClr val="7ED957"/>
            </a:solidFill>
          </p:spPr>
          <p:txBody>
            <a:bodyPr/>
            <a:lstStyle/>
            <a:p>
              <a:endParaRPr lang="en-IN"/>
            </a:p>
          </p:txBody>
        </p:sp>
        <p:sp>
          <p:nvSpPr>
            <p:cNvPr id="5" name="TextBox 5"/>
            <p:cNvSpPr txBox="1"/>
            <p:nvPr/>
          </p:nvSpPr>
          <p:spPr>
            <a:xfrm>
              <a:off x="0" y="-38100"/>
              <a:ext cx="868970" cy="3181962"/>
            </a:xfrm>
            <a:prstGeom prst="rect">
              <a:avLst/>
            </a:prstGeom>
          </p:spPr>
          <p:txBody>
            <a:bodyPr lIns="50800" tIns="50800" rIns="50800" bIns="50800" rtlCol="0" anchor="ctr"/>
            <a:lstStyle/>
            <a:p>
              <a:pPr marL="0" lvl="0" indent="0" algn="ctr">
                <a:lnSpc>
                  <a:spcPts val="2659"/>
                </a:lnSpc>
              </a:pPr>
              <a:endParaRPr/>
            </a:p>
          </p:txBody>
        </p:sp>
      </p:grpSp>
      <p:sp>
        <p:nvSpPr>
          <p:cNvPr id="6" name="TextBox 6"/>
          <p:cNvSpPr txBox="1"/>
          <p:nvPr/>
        </p:nvSpPr>
        <p:spPr>
          <a:xfrm>
            <a:off x="1028700" y="3890987"/>
            <a:ext cx="13938456" cy="3597086"/>
          </a:xfrm>
          <a:prstGeom prst="rect">
            <a:avLst/>
          </a:prstGeom>
        </p:spPr>
        <p:txBody>
          <a:bodyPr lIns="0" tIns="0" rIns="0" bIns="0" rtlCol="0" anchor="t">
            <a:spAutoFit/>
          </a:bodyPr>
          <a:lstStyle/>
          <a:p>
            <a:pPr marL="0" lvl="0" indent="0" algn="just">
              <a:lnSpc>
                <a:spcPts val="4032"/>
              </a:lnSpc>
            </a:pPr>
            <a:r>
              <a:rPr lang="en-US" sz="3388" dirty="0">
                <a:solidFill>
                  <a:srgbClr val="000000"/>
                </a:solidFill>
                <a:latin typeface="Codec Pro"/>
                <a:ea typeface="Codec Pro"/>
                <a:cs typeface="Codec Pro"/>
                <a:sym typeface="Codec Pro"/>
              </a:rPr>
              <a:t>Most Fitbit users maintain active lifestyles and demonstrate consistent weekly wellness patterns. However, prolonged sedentary behavior is associated with reduced sleep duration and represents the strongest opportunity for intervention. Bellabeat can improve user wellness and engagement through inactivity reduction strategies, personalized engagement programs, and recovery-focused features.</a:t>
            </a:r>
          </a:p>
        </p:txBody>
      </p:sp>
      <p:sp>
        <p:nvSpPr>
          <p:cNvPr id="7" name="TextBox 7"/>
          <p:cNvSpPr txBox="1"/>
          <p:nvPr/>
        </p:nvSpPr>
        <p:spPr>
          <a:xfrm>
            <a:off x="3925598" y="1658336"/>
            <a:ext cx="9140721" cy="868893"/>
          </a:xfrm>
          <a:prstGeom prst="rect">
            <a:avLst/>
          </a:prstGeom>
        </p:spPr>
        <p:txBody>
          <a:bodyPr lIns="0" tIns="0" rIns="0" bIns="0" rtlCol="0" anchor="t">
            <a:spAutoFit/>
          </a:bodyPr>
          <a:lstStyle/>
          <a:p>
            <a:pPr marL="0" lvl="0" indent="0" algn="l">
              <a:lnSpc>
                <a:spcPts val="6439"/>
              </a:lnSpc>
            </a:pPr>
            <a:r>
              <a:rPr lang="en-US" sz="6778" b="1">
                <a:solidFill>
                  <a:srgbClr val="000000"/>
                </a:solidFill>
                <a:latin typeface="Montaser Arabic Bold"/>
                <a:ea typeface="Montaser Arabic Bold"/>
                <a:cs typeface="Montaser Arabic Bold"/>
                <a:sym typeface="Montaser Arabic Bold"/>
              </a:rPr>
              <a:t>Conclusion</a:t>
            </a:r>
          </a:p>
        </p:txBody>
      </p:sp>
      <p:sp>
        <p:nvSpPr>
          <p:cNvPr id="8" name="TextBox 8"/>
          <p:cNvSpPr txBox="1"/>
          <p:nvPr/>
        </p:nvSpPr>
        <p:spPr>
          <a:xfrm>
            <a:off x="1739569" y="1743817"/>
            <a:ext cx="1036418" cy="1651093"/>
          </a:xfrm>
          <a:prstGeom prst="rect">
            <a:avLst/>
          </a:prstGeom>
        </p:spPr>
        <p:txBody>
          <a:bodyPr lIns="0" tIns="0" rIns="0" bIns="0" rtlCol="0" anchor="t">
            <a:spAutoFit/>
          </a:bodyPr>
          <a:lstStyle/>
          <a:p>
            <a:pPr marL="0" lvl="0" indent="0" algn="ctr">
              <a:lnSpc>
                <a:spcPts val="6439"/>
              </a:lnSpc>
            </a:pPr>
            <a:r>
              <a:rPr lang="en-US" sz="6778" b="1" dirty="0">
                <a:solidFill>
                  <a:srgbClr val="000000"/>
                </a:solidFill>
                <a:latin typeface="Montaser Arabic Bold"/>
                <a:ea typeface="Montaser Arabic Bold"/>
                <a:cs typeface="Montaser Arabic Bold"/>
                <a:sym typeface="Montaser Arabic Bold"/>
              </a:rPr>
              <a:t>9</a:t>
            </a:r>
          </a:p>
          <a:p>
            <a:pPr marL="0" lvl="0" indent="0" algn="ctr">
              <a:lnSpc>
                <a:spcPts val="6439"/>
              </a:lnSpc>
            </a:pPr>
            <a:endParaRPr lang="en-US" sz="6778" b="1" dirty="0">
              <a:solidFill>
                <a:srgbClr val="000000"/>
              </a:solidFill>
              <a:latin typeface="Montaser Arabic Bold"/>
              <a:ea typeface="Montaser Arabic Bold"/>
              <a:cs typeface="Montaser Arabic Bold"/>
              <a:sym typeface="Montaser Arabic 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82554" y="4589486"/>
            <a:ext cx="9132040" cy="2096583"/>
            <a:chOff x="0" y="0"/>
            <a:chExt cx="2405146" cy="552187"/>
          </a:xfrm>
        </p:grpSpPr>
        <p:sp>
          <p:nvSpPr>
            <p:cNvPr id="3" name="Freeform 3"/>
            <p:cNvSpPr/>
            <p:nvPr/>
          </p:nvSpPr>
          <p:spPr>
            <a:xfrm>
              <a:off x="0" y="0"/>
              <a:ext cx="2405146" cy="552187"/>
            </a:xfrm>
            <a:custGeom>
              <a:avLst/>
              <a:gdLst/>
              <a:ahLst/>
              <a:cxnLst/>
              <a:rect l="l" t="t" r="r" b="b"/>
              <a:pathLst>
                <a:path w="2405146" h="552187">
                  <a:moveTo>
                    <a:pt x="0" y="0"/>
                  </a:moveTo>
                  <a:lnTo>
                    <a:pt x="2405146" y="0"/>
                  </a:lnTo>
                  <a:lnTo>
                    <a:pt x="2405146" y="552187"/>
                  </a:lnTo>
                  <a:lnTo>
                    <a:pt x="0" y="552187"/>
                  </a:lnTo>
                  <a:close/>
                </a:path>
              </a:pathLst>
            </a:custGeom>
            <a:solidFill>
              <a:srgbClr val="7ED957"/>
            </a:solidFill>
          </p:spPr>
          <p:txBody>
            <a:bodyPr/>
            <a:lstStyle/>
            <a:p>
              <a:endParaRPr lang="en-IN"/>
            </a:p>
          </p:txBody>
        </p:sp>
        <p:sp>
          <p:nvSpPr>
            <p:cNvPr id="4" name="TextBox 4"/>
            <p:cNvSpPr txBox="1"/>
            <p:nvPr/>
          </p:nvSpPr>
          <p:spPr>
            <a:xfrm>
              <a:off x="0" y="-38100"/>
              <a:ext cx="2405146" cy="590287"/>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TextBox 5"/>
          <p:cNvSpPr txBox="1"/>
          <p:nvPr/>
        </p:nvSpPr>
        <p:spPr>
          <a:xfrm>
            <a:off x="4833636" y="5092231"/>
            <a:ext cx="11089025" cy="1214919"/>
          </a:xfrm>
          <a:prstGeom prst="rect">
            <a:avLst/>
          </a:prstGeom>
        </p:spPr>
        <p:txBody>
          <a:bodyPr lIns="0" tIns="0" rIns="0" bIns="0" rtlCol="0" anchor="t">
            <a:spAutoFit/>
          </a:bodyPr>
          <a:lstStyle/>
          <a:p>
            <a:pPr marL="0" lvl="0" indent="0" algn="l">
              <a:lnSpc>
                <a:spcPts val="4716"/>
              </a:lnSpc>
            </a:pPr>
            <a:r>
              <a:rPr lang="en-US" sz="4965" b="1">
                <a:solidFill>
                  <a:srgbClr val="000000"/>
                </a:solidFill>
                <a:latin typeface="Montaser Arabic Bold"/>
                <a:ea typeface="Montaser Arabic Bold"/>
                <a:cs typeface="Montaser Arabic Bold"/>
                <a:sym typeface="Montaser Arabic Bold"/>
              </a:rPr>
              <a:t>Thank You!</a:t>
            </a:r>
          </a:p>
          <a:p>
            <a:pPr marL="0" lvl="0" indent="0" algn="l">
              <a:lnSpc>
                <a:spcPts val="4716"/>
              </a:lnSpc>
            </a:pPr>
            <a:endParaRPr lang="en-US" sz="4965" b="1">
              <a:solidFill>
                <a:srgbClr val="000000"/>
              </a:solidFill>
              <a:latin typeface="Montaser Arabic Bold"/>
              <a:ea typeface="Montaser Arabic Bold"/>
              <a:cs typeface="Montaser Arabic Bold"/>
              <a:sym typeface="Montaser Arabic Bold"/>
            </a:endParaRPr>
          </a:p>
        </p:txBody>
      </p:sp>
      <p:sp>
        <p:nvSpPr>
          <p:cNvPr id="6" name="Freeform 6"/>
          <p:cNvSpPr/>
          <p:nvPr/>
        </p:nvSpPr>
        <p:spPr>
          <a:xfrm>
            <a:off x="5830519" y="2999417"/>
            <a:ext cx="1608646" cy="1224582"/>
          </a:xfrm>
          <a:custGeom>
            <a:avLst/>
            <a:gdLst/>
            <a:ahLst/>
            <a:cxnLst/>
            <a:rect l="l" t="t" r="r" b="b"/>
            <a:pathLst>
              <a:path w="1608646" h="1224582">
                <a:moveTo>
                  <a:pt x="0" y="0"/>
                </a:moveTo>
                <a:lnTo>
                  <a:pt x="1608646" y="0"/>
                </a:lnTo>
                <a:lnTo>
                  <a:pt x="1608646" y="1224582"/>
                </a:lnTo>
                <a:lnTo>
                  <a:pt x="0" y="12245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7" name="Freeform 7"/>
          <p:cNvSpPr/>
          <p:nvPr/>
        </p:nvSpPr>
        <p:spPr>
          <a:xfrm>
            <a:off x="10764058" y="4589486"/>
            <a:ext cx="5007762" cy="3599329"/>
          </a:xfrm>
          <a:custGeom>
            <a:avLst/>
            <a:gdLst/>
            <a:ahLst/>
            <a:cxnLst/>
            <a:rect l="l" t="t" r="r" b="b"/>
            <a:pathLst>
              <a:path w="5007762" h="3599329">
                <a:moveTo>
                  <a:pt x="0" y="0"/>
                </a:moveTo>
                <a:lnTo>
                  <a:pt x="5007761" y="0"/>
                </a:lnTo>
                <a:lnTo>
                  <a:pt x="5007761" y="3599329"/>
                </a:lnTo>
                <a:lnTo>
                  <a:pt x="0" y="3599329"/>
                </a:lnTo>
                <a:lnTo>
                  <a:pt x="0" y="0"/>
                </a:lnTo>
                <a:close/>
              </a:path>
            </a:pathLst>
          </a:custGeom>
          <a:blipFill>
            <a:blip r:embed="rId3"/>
            <a:stretch>
              <a:fillRect/>
            </a:stretch>
          </a:blipFill>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350</Words>
  <Application>Microsoft Office PowerPoint</Application>
  <PresentationFormat>Custom</PresentationFormat>
  <Paragraphs>82</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Montaser Arabic Bold</vt:lpstr>
      <vt:lpstr>Montaser Arabic</vt:lpstr>
      <vt:lpstr>Codec Pro</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 Text Magic Studio Magic Design for Presentations L&amp;P</dc:title>
  <cp:lastModifiedBy>kushal verma</cp:lastModifiedBy>
  <cp:revision>3</cp:revision>
  <dcterms:created xsi:type="dcterms:W3CDTF">2006-08-16T00:00:00Z</dcterms:created>
  <dcterms:modified xsi:type="dcterms:W3CDTF">2026-06-10T07:19:29Z</dcterms:modified>
  <dc:identifier>DAHMJX4Dzt4</dc:identifier>
</cp:coreProperties>
</file>